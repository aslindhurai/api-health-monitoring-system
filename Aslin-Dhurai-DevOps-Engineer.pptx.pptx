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8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11.svg" ContentType="image/svg"/>
  <Override PartName="/ppt/media/image23.png" ContentType="image/png"/>
  <Override PartName="/ppt/media/image47.svg" ContentType="image/svg"/>
  <Override PartName="/ppt/media/image22.png" ContentType="image/png"/>
  <Override PartName="/ppt/media/image19.png" ContentType="image/png"/>
  <Override PartName="/ppt/media/image29.svg" ContentType="image/svg"/>
  <Override PartName="/ppt/media/image20.png" ContentType="image/png"/>
  <Override PartName="/ppt/media/image18.png" ContentType="image/png"/>
  <Override PartName="/ppt/media/image27.svg" ContentType="image/svg"/>
  <Override PartName="/ppt/media/image8.png" ContentType="image/png"/>
  <Override PartName="/ppt/media/image16.png" ContentType="image/png"/>
  <Override PartName="/ppt/media/image14.png" ContentType="image/png"/>
  <Override PartName="/ppt/media/image38.svg" ContentType="image/svg"/>
  <Override PartName="/ppt/media/image37.png" ContentType="image/png"/>
  <Override PartName="/ppt/media/image36.svg" ContentType="image/svg"/>
  <Override PartName="/ppt/media/image39.png" ContentType="image/png"/>
  <Override PartName="/ppt/media/image40.png" ContentType="image/png"/>
  <Override PartName="/ppt/media/image12.jpeg" ContentType="image/jpeg"/>
  <Override PartName="/ppt/media/image32.png" ContentType="image/png"/>
  <Override PartName="/ppt/media/image43.svg" ContentType="image/svg"/>
  <Override PartName="/ppt/media/image41.svg" ContentType="image/svg"/>
  <Override PartName="/ppt/media/image30.png" ContentType="image/png"/>
  <Override PartName="/ppt/media/image42.png" ContentType="image/png"/>
  <Override PartName="/ppt/media/image44.png" ContentType="image/png"/>
  <Override PartName="/ppt/media/image31.svg" ContentType="image/svg"/>
  <Override PartName="/ppt/media/image46.png" ContentType="image/png"/>
  <Override PartName="/ppt/media/image33.svg" ContentType="image/svg"/>
  <Override PartName="/ppt/media/image45.svg" ContentType="image/svg"/>
  <Override PartName="/ppt/media/image4.png" ContentType="image/png"/>
  <Override PartName="/ppt/media/image5.svg" ContentType="image/svg"/>
  <Override PartName="/ppt/media/image13.png" ContentType="image/png"/>
  <Override PartName="/ppt/media/image10.png" ContentType="image/png"/>
  <Override PartName="/ppt/media/image1.png" ContentType="image/png"/>
  <Override PartName="/ppt/media/image2.png" ContentType="image/png"/>
  <Override PartName="/ppt/media/image34.png" ContentType="image/png"/>
  <Override PartName="/ppt/media/image21.svg" ContentType="image/svg"/>
  <Override PartName="/ppt/media/image6.png" ContentType="image/png"/>
  <Override PartName="/ppt/media/image7.svg" ContentType="image/svg"/>
  <Override PartName="/ppt/media/image15.png" ContentType="image/png"/>
  <Override PartName="/ppt/media/image9.svg" ContentType="image/svg"/>
  <Override PartName="/ppt/media/image17.png" ContentType="image/png"/>
  <Override PartName="/ppt/media/image35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99232C8-CE1B-4225-8D1E-7D4B75A0A6A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dt" idx="64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ftr" idx="65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PlaceHolder 6"/>
          <p:cNvSpPr>
            <a:spLocks noGrp="1"/>
          </p:cNvSpPr>
          <p:nvPr>
            <p:ph type="sldNum" idx="66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dt" idx="6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 type="ftr" idx="6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PlaceHolder 6"/>
          <p:cNvSpPr>
            <a:spLocks noGrp="1"/>
          </p:cNvSpPr>
          <p:nvPr>
            <p:ph type="sldNum" idx="6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dt" idx="7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5"/>
          <p:cNvSpPr>
            <a:spLocks noGrp="1"/>
          </p:cNvSpPr>
          <p:nvPr>
            <p:ph type="ftr" idx="7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PlaceHolder 6"/>
          <p:cNvSpPr>
            <a:spLocks noGrp="1"/>
          </p:cNvSpPr>
          <p:nvPr>
            <p:ph type="sldNum" idx="7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6A0EA-5930-4DD6-A0AF-1D59E85167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F0950E-DC28-4C79-A742-09B49626E8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C31FAB9-3918-47B6-89BD-4A667FA7DC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03C2F33-D2EC-4A51-9E99-810EDE7CD8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65B86D5-AE37-4788-9BB3-058881ECCE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3726D63-8D3D-4B9F-8704-586C1F8D0B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4C65C4D-4F4B-4248-A681-B4C93F999E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52695F9-5028-4472-8F7F-72AA6735A4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6659439-44A0-4664-9F7B-7A9BEF6B8B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46262CC-6C32-4F15-A8C8-B380D2EAFB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51ED23A-E739-4D91-86E5-902A144152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4ABC8A-B85F-4D3C-BB30-CC104F030E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C6F6F-63D0-4E25-95D8-3E81FCBB60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86CF5-1480-41BB-9257-783846F168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822C2D-FD44-4543-B6D2-F2E239142C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74C34-00CB-4452-B893-C98C9F202A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C3921-E99F-48A7-B892-4E3C368894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D55D47-19A3-4B63-B4B7-4446C7D9F0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14F5BC-FE88-4688-B696-D96532E566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AF6895-1532-4B9D-9F84-BB613FFBB8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5DB665-2539-419E-8332-36824B8346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65EF5-40E0-4CCC-B3C1-A176981A07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0.png"/><Relationship Id="rId6" Type="http://schemas.openxmlformats.org/officeDocument/2006/relationships/image" Target="../media/image21.svg"/><Relationship Id="rId7" Type="http://schemas.openxmlformats.org/officeDocument/2006/relationships/image" Target="../media/image22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image" Target="../media/image28.pn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31.svg"/><Relationship Id="rId7" Type="http://schemas.openxmlformats.org/officeDocument/2006/relationships/image" Target="../media/image32.png"/><Relationship Id="rId8" Type="http://schemas.openxmlformats.org/officeDocument/2006/relationships/image" Target="../media/image33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39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sv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image" Target="../media/image46.png"/><Relationship Id="rId8" Type="http://schemas.openxmlformats.org/officeDocument/2006/relationships/image" Target="../media/image47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74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76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Group 6"/>
          <p:cNvGrpSpPr/>
          <p:nvPr/>
        </p:nvGrpSpPr>
        <p:grpSpPr>
          <a:xfrm>
            <a:off x="16628400" y="9846360"/>
            <a:ext cx="1608840" cy="384120"/>
            <a:chOff x="16628400" y="9846360"/>
            <a:chExt cx="1608840" cy="384120"/>
          </a:xfrm>
        </p:grpSpPr>
        <p:sp>
          <p:nvSpPr>
            <p:cNvPr id="78" name="Freeform 7">
              <a:hlinkClick r:id="rId1"/>
            </p:cNvPr>
            <p:cNvSpPr/>
            <p:nvPr/>
          </p:nvSpPr>
          <p:spPr>
            <a:xfrm>
              <a:off x="16628400" y="9846360"/>
              <a:ext cx="1608840" cy="384120"/>
            </a:xfrm>
            <a:custGeom>
              <a:avLst/>
              <a:gdLst>
                <a:gd name="textAreaLeft" fmla="*/ 0 w 1608840"/>
                <a:gd name="textAreaRight" fmla="*/ 1609200 w 1608840"/>
                <a:gd name="textAreaTop" fmla="*/ 0 h 384120"/>
                <a:gd name="textAreaBottom" fmla="*/ 384480 h 384120"/>
              </a:gdLst>
              <a:ahLst/>
              <a:rect l="textAreaLeft" t="textAreaTop" r="textAreaRight" b="textAreaBottom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Group 8"/>
          <p:cNvGrpSpPr/>
          <p:nvPr/>
        </p:nvGrpSpPr>
        <p:grpSpPr>
          <a:xfrm>
            <a:off x="11438640" y="0"/>
            <a:ext cx="6862680" cy="10294560"/>
            <a:chOff x="11438640" y="0"/>
            <a:chExt cx="6862680" cy="10294560"/>
          </a:xfrm>
        </p:grpSpPr>
        <p:sp>
          <p:nvSpPr>
            <p:cNvPr id="80" name="Freeform 9"/>
            <p:cNvSpPr/>
            <p:nvPr/>
          </p:nvSpPr>
          <p:spPr>
            <a:xfrm>
              <a:off x="11438640" y="0"/>
              <a:ext cx="6862680" cy="10294560"/>
            </a:xfrm>
            <a:custGeom>
              <a:avLst/>
              <a:gdLst>
                <a:gd name="textAreaLeft" fmla="*/ 0 w 6862680"/>
                <a:gd name="textAreaRight" fmla="*/ 6863040 w 686268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" name="Group 10"/>
          <p:cNvGrpSpPr/>
          <p:nvPr/>
        </p:nvGrpSpPr>
        <p:grpSpPr>
          <a:xfrm>
            <a:off x="11580480" y="761040"/>
            <a:ext cx="6579000" cy="8772480"/>
            <a:chOff x="11580480" y="761040"/>
            <a:chExt cx="6579000" cy="8772480"/>
          </a:xfrm>
        </p:grpSpPr>
        <p:sp>
          <p:nvSpPr>
            <p:cNvPr id="82" name="Freeform 11"/>
            <p:cNvSpPr/>
            <p:nvPr/>
          </p:nvSpPr>
          <p:spPr>
            <a:xfrm>
              <a:off x="11580480" y="761040"/>
              <a:ext cx="6579000" cy="8772480"/>
            </a:xfrm>
            <a:custGeom>
              <a:avLst/>
              <a:gdLst>
                <a:gd name="textAreaLeft" fmla="*/ 0 w 6579000"/>
                <a:gd name="textAreaRight" fmla="*/ 6579360 w 6579000"/>
                <a:gd name="textAreaTop" fmla="*/ 0 h 8772480"/>
                <a:gd name="textAreaBottom" fmla="*/ 8772840 h 8772480"/>
              </a:gdLst>
              <a:ahLst/>
              <a:rect l="textAreaLeft" t="textAreaTop" r="textAreaRight" b="textAreaBottom"/>
              <a:pathLst>
                <a:path w="8772652" h="11697335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" name="TextBox 12"/>
          <p:cNvSpPr/>
          <p:nvPr/>
        </p:nvSpPr>
        <p:spPr>
          <a:xfrm>
            <a:off x="992880" y="3782880"/>
            <a:ext cx="9452160" cy="17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Aslin Dhurai — DevOps Engineer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992880" y="5934240"/>
            <a:ext cx="103672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Infrastructure · CI/CD · Automation · Reliability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86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88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" name="Group 6"/>
          <p:cNvGrpSpPr/>
          <p:nvPr/>
        </p:nvGrpSpPr>
        <p:grpSpPr>
          <a:xfrm>
            <a:off x="992880" y="2517120"/>
            <a:ext cx="5259960" cy="5260320"/>
            <a:chOff x="992880" y="2517120"/>
            <a:chExt cx="5259960" cy="5260320"/>
          </a:xfrm>
        </p:grpSpPr>
        <p:sp>
          <p:nvSpPr>
            <p:cNvPr id="90" name="Freeform 7"/>
            <p:cNvSpPr/>
            <p:nvPr/>
          </p:nvSpPr>
          <p:spPr>
            <a:xfrm>
              <a:off x="992880" y="2517120"/>
              <a:ext cx="5259960" cy="5260320"/>
            </a:xfrm>
            <a:custGeom>
              <a:avLst/>
              <a:gdLst>
                <a:gd name="textAreaLeft" fmla="*/ 0 w 5259960"/>
                <a:gd name="textAreaRight" fmla="*/ 5260320 w 5259960"/>
                <a:gd name="textAreaTop" fmla="*/ 0 h 5260320"/>
                <a:gd name="textAreaBottom" fmla="*/ 5260680 h 5260320"/>
              </a:gdLst>
              <a:ahLst/>
              <a:rect l="textAreaLeft" t="textAreaTop" r="textAreaRight" b="textAreaBottom"/>
              <a:pathLst>
                <a:path w="7013956" h="7014083">
                  <a:moveTo>
                    <a:pt x="0" y="0"/>
                  </a:moveTo>
                  <a:lnTo>
                    <a:pt x="7013956" y="0"/>
                  </a:lnTo>
                  <a:lnTo>
                    <a:pt x="7013956" y="7014083"/>
                  </a:lnTo>
                  <a:lnTo>
                    <a:pt x="0" y="701408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" name="Group 8"/>
          <p:cNvGrpSpPr/>
          <p:nvPr/>
        </p:nvGrpSpPr>
        <p:grpSpPr>
          <a:xfrm>
            <a:off x="6955200" y="3392640"/>
            <a:ext cx="1446840" cy="430560"/>
            <a:chOff x="6955200" y="3392640"/>
            <a:chExt cx="1446840" cy="430560"/>
          </a:xfrm>
        </p:grpSpPr>
        <p:sp>
          <p:nvSpPr>
            <p:cNvPr id="92" name="Freeform 9"/>
            <p:cNvSpPr/>
            <p:nvPr/>
          </p:nvSpPr>
          <p:spPr>
            <a:xfrm>
              <a:off x="6955200" y="3392640"/>
              <a:ext cx="1446840" cy="430560"/>
            </a:xfrm>
            <a:custGeom>
              <a:avLst/>
              <a:gdLst>
                <a:gd name="textAreaLeft" fmla="*/ 0 w 1446840"/>
                <a:gd name="textAreaRight" fmla="*/ 1447200 w 1446840"/>
                <a:gd name="textAreaTop" fmla="*/ 0 h 430560"/>
                <a:gd name="textAreaBottom" fmla="*/ 430920 h 430560"/>
              </a:gdLst>
              <a:ahLst/>
              <a:rect l="textAreaLeft" t="textAreaTop" r="textAreaRight" b="textAreaBottom"/>
              <a:pathLst>
                <a:path w="1929511" h="574675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802384" y="0"/>
                  </a:lnTo>
                  <a:cubicBezTo>
                    <a:pt x="1872615" y="0"/>
                    <a:pt x="1929511" y="56896"/>
                    <a:pt x="1929511" y="127127"/>
                  </a:cubicBezTo>
                  <a:lnTo>
                    <a:pt x="1929511" y="447548"/>
                  </a:lnTo>
                  <a:cubicBezTo>
                    <a:pt x="1929511" y="517779"/>
                    <a:pt x="1872615" y="574675"/>
                    <a:pt x="1802384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" name="TextBox 10"/>
          <p:cNvSpPr/>
          <p:nvPr/>
        </p:nvSpPr>
        <p:spPr>
          <a:xfrm>
            <a:off x="7125480" y="3487320"/>
            <a:ext cx="20214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87"/>
              </a:lnSpc>
            </a:pPr>
            <a:r>
              <a:rPr b="0" lang="en-US" sz="1729" spc="-1" strike="noStrike">
                <a:solidFill>
                  <a:srgbClr val="3c3939"/>
                </a:solidFill>
                <a:latin typeface="Roboto"/>
                <a:ea typeface="Roboto"/>
              </a:rPr>
              <a:t>ABOUT ME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6955200" y="3899160"/>
            <a:ext cx="1036260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Who I Am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6955200" y="5022000"/>
            <a:ext cx="10362600" cy="17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DevOps engineer focused on </a:t>
            </a: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cloud infrastructure, CI/CD, automation, and monitoring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Passionate about making application delivery </a:t>
            </a: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reliable and repeatable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I enjoy the intersection of development, infrastructure, and reliability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97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99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" name="TextBox 6"/>
          <p:cNvSpPr/>
          <p:nvPr/>
        </p:nvSpPr>
        <p:spPr>
          <a:xfrm>
            <a:off x="992880" y="1064880"/>
            <a:ext cx="1631556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What DevOps Means to Me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992880" y="2471400"/>
            <a:ext cx="172306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Not just tools — a reliable process bridging development and operations.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" name="Group 8"/>
          <p:cNvGrpSpPr/>
          <p:nvPr/>
        </p:nvGrpSpPr>
        <p:grpSpPr>
          <a:xfrm>
            <a:off x="988200" y="3325320"/>
            <a:ext cx="8025120" cy="2797920"/>
            <a:chOff x="988200" y="3325320"/>
            <a:chExt cx="8025120" cy="2797920"/>
          </a:xfrm>
        </p:grpSpPr>
        <p:sp>
          <p:nvSpPr>
            <p:cNvPr id="103" name="Freeform 9"/>
            <p:cNvSpPr/>
            <p:nvPr/>
          </p:nvSpPr>
          <p:spPr>
            <a:xfrm>
              <a:off x="988200" y="3325320"/>
              <a:ext cx="8025120" cy="2797920"/>
            </a:xfrm>
            <a:custGeom>
              <a:avLst/>
              <a:gdLst>
                <a:gd name="textAreaLeft" fmla="*/ 0 w 8025120"/>
                <a:gd name="textAreaRight" fmla="*/ 8025480 w 8025120"/>
                <a:gd name="textAreaTop" fmla="*/ 0 h 2797920"/>
                <a:gd name="textAreaBottom" fmla="*/ 2798280 h 2797920"/>
              </a:gdLst>
              <a:ahLst/>
              <a:rect l="textAreaLeft" t="textAreaTop" r="textAreaRight" b="textAreaBottom"/>
              <a:pathLst>
                <a:path w="10700639" h="3731260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254" y="0"/>
                  </a:lnTo>
                  <a:cubicBezTo>
                    <a:pt x="10629265" y="0"/>
                    <a:pt x="10700639" y="71374"/>
                    <a:pt x="10700639" y="159385"/>
                  </a:cubicBezTo>
                  <a:lnTo>
                    <a:pt x="10700639" y="3571875"/>
                  </a:lnTo>
                  <a:cubicBezTo>
                    <a:pt x="10700639" y="3659886"/>
                    <a:pt x="10629265" y="3731260"/>
                    <a:pt x="10541254" y="3731260"/>
                  </a:cubicBezTo>
                  <a:lnTo>
                    <a:pt x="159385" y="3731260"/>
                  </a:lnTo>
                  <a:cubicBezTo>
                    <a:pt x="71374" y="3731387"/>
                    <a:pt x="0" y="3660013"/>
                    <a:pt x="0" y="3571875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" name="Group 10"/>
          <p:cNvGrpSpPr/>
          <p:nvPr/>
        </p:nvGrpSpPr>
        <p:grpSpPr>
          <a:xfrm>
            <a:off x="1286280" y="3623400"/>
            <a:ext cx="850680" cy="850680"/>
            <a:chOff x="1286280" y="3623400"/>
            <a:chExt cx="850680" cy="850680"/>
          </a:xfrm>
        </p:grpSpPr>
        <p:sp>
          <p:nvSpPr>
            <p:cNvPr id="105" name="Freeform 11"/>
            <p:cNvSpPr/>
            <p:nvPr/>
          </p:nvSpPr>
          <p:spPr>
            <a:xfrm>
              <a:off x="1286280" y="3623400"/>
              <a:ext cx="850680" cy="85068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850680"/>
                <a:gd name="textAreaBottom" fmla="*/ 851040 h 850680"/>
              </a:gdLst>
              <a:ahLst/>
              <a:rect l="textAreaLeft" t="textAreaTop" r="textAreaRight" b="textAreaBottom"/>
              <a:pathLst>
                <a:path w="1134872" h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1b1b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6" name="Freeform 12"/>
          <p:cNvSpPr/>
          <p:nvPr/>
        </p:nvSpPr>
        <p:spPr>
          <a:xfrm>
            <a:off x="1520280" y="3857400"/>
            <a:ext cx="382680" cy="382680"/>
          </a:xfrm>
          <a:custGeom>
            <a:avLst/>
            <a:gdLst>
              <a:gd name="textAreaLeft" fmla="*/ 0 w 382680"/>
              <a:gd name="textAreaRight" fmla="*/ 383040 w 382680"/>
              <a:gd name="textAreaTop" fmla="*/ 0 h 382680"/>
              <a:gd name="textAreaBottom" fmla="*/ 383040 h 382680"/>
            </a:gdLst>
            <a:ahLst/>
            <a:rect l="textAreaLeft" t="textAreaTop" r="textAreaRight" b="textAreaBottom"/>
            <a:pathLst>
              <a:path w="382924" h="38293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1286280" y="4739400"/>
            <a:ext cx="742896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Automation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1286280" y="5286240"/>
            <a:ext cx="7428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Replace repetitive manual work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9" name="Group 15"/>
          <p:cNvGrpSpPr/>
          <p:nvPr/>
        </p:nvGrpSpPr>
        <p:grpSpPr>
          <a:xfrm>
            <a:off x="9288000" y="3325320"/>
            <a:ext cx="8025480" cy="2797920"/>
            <a:chOff x="9288000" y="3325320"/>
            <a:chExt cx="8025480" cy="2797920"/>
          </a:xfrm>
        </p:grpSpPr>
        <p:sp>
          <p:nvSpPr>
            <p:cNvPr id="110" name="Freeform 16"/>
            <p:cNvSpPr/>
            <p:nvPr/>
          </p:nvSpPr>
          <p:spPr>
            <a:xfrm>
              <a:off x="9288000" y="3325320"/>
              <a:ext cx="8025480" cy="2797920"/>
            </a:xfrm>
            <a:custGeom>
              <a:avLst/>
              <a:gdLst>
                <a:gd name="textAreaLeft" fmla="*/ 0 w 8025480"/>
                <a:gd name="textAreaRight" fmla="*/ 8025840 w 8025480"/>
                <a:gd name="textAreaTop" fmla="*/ 0 h 2797920"/>
                <a:gd name="textAreaBottom" fmla="*/ 2798280 h 2797920"/>
              </a:gdLst>
              <a:ahLst/>
              <a:rect l="textAreaLeft" t="textAreaTop" r="textAreaRight" b="textAreaBottom"/>
              <a:pathLst>
                <a:path w="10700893" h="3731260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508" y="0"/>
                  </a:lnTo>
                  <a:cubicBezTo>
                    <a:pt x="10629519" y="0"/>
                    <a:pt x="10700893" y="71374"/>
                    <a:pt x="10700893" y="159385"/>
                  </a:cubicBezTo>
                  <a:lnTo>
                    <a:pt x="10700893" y="3571875"/>
                  </a:lnTo>
                  <a:cubicBezTo>
                    <a:pt x="10700893" y="3659886"/>
                    <a:pt x="10629519" y="3731260"/>
                    <a:pt x="10541508" y="3731260"/>
                  </a:cubicBezTo>
                  <a:lnTo>
                    <a:pt x="159385" y="3731260"/>
                  </a:lnTo>
                  <a:cubicBezTo>
                    <a:pt x="71374" y="3731387"/>
                    <a:pt x="0" y="3660013"/>
                    <a:pt x="0" y="3571875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" name="Group 17"/>
          <p:cNvGrpSpPr/>
          <p:nvPr/>
        </p:nvGrpSpPr>
        <p:grpSpPr>
          <a:xfrm>
            <a:off x="9586080" y="3623400"/>
            <a:ext cx="850680" cy="850680"/>
            <a:chOff x="9586080" y="3623400"/>
            <a:chExt cx="850680" cy="850680"/>
          </a:xfrm>
        </p:grpSpPr>
        <p:sp>
          <p:nvSpPr>
            <p:cNvPr id="112" name="Freeform 18"/>
            <p:cNvSpPr/>
            <p:nvPr/>
          </p:nvSpPr>
          <p:spPr>
            <a:xfrm>
              <a:off x="9586080" y="3623400"/>
              <a:ext cx="850680" cy="85068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850680"/>
                <a:gd name="textAreaBottom" fmla="*/ 851040 h 850680"/>
              </a:gdLst>
              <a:ahLst/>
              <a:rect l="textAreaLeft" t="textAreaTop" r="textAreaRight" b="textAreaBottom"/>
              <a:pathLst>
                <a:path w="1134872" h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1b1b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3" name="Freeform 19"/>
          <p:cNvSpPr/>
          <p:nvPr/>
        </p:nvSpPr>
        <p:spPr>
          <a:xfrm>
            <a:off x="9820080" y="3857400"/>
            <a:ext cx="382680" cy="382680"/>
          </a:xfrm>
          <a:custGeom>
            <a:avLst/>
            <a:gdLst>
              <a:gd name="textAreaLeft" fmla="*/ 0 w 382680"/>
              <a:gd name="textAreaRight" fmla="*/ 383040 w 382680"/>
              <a:gd name="textAreaTop" fmla="*/ 0 h 382680"/>
              <a:gd name="textAreaBottom" fmla="*/ 383040 h 382680"/>
            </a:gdLst>
            <a:ahLst/>
            <a:rect l="textAreaLeft" t="textAreaTop" r="textAreaRight" b="textAreaBottom"/>
            <a:pathLst>
              <a:path w="382924" h="38293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9586080" y="4739400"/>
            <a:ext cx="7429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CI/CD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9586080" y="5286240"/>
            <a:ext cx="74293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Consistent build, test, and deploy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6" name="Group 22"/>
          <p:cNvGrpSpPr/>
          <p:nvPr/>
        </p:nvGrpSpPr>
        <p:grpSpPr>
          <a:xfrm>
            <a:off x="988200" y="6398280"/>
            <a:ext cx="8025120" cy="2797920"/>
            <a:chOff x="988200" y="6398280"/>
            <a:chExt cx="8025120" cy="2797920"/>
          </a:xfrm>
        </p:grpSpPr>
        <p:sp>
          <p:nvSpPr>
            <p:cNvPr id="117" name="Freeform 23"/>
            <p:cNvSpPr/>
            <p:nvPr/>
          </p:nvSpPr>
          <p:spPr>
            <a:xfrm>
              <a:off x="988200" y="6398280"/>
              <a:ext cx="8025120" cy="2797920"/>
            </a:xfrm>
            <a:custGeom>
              <a:avLst/>
              <a:gdLst>
                <a:gd name="textAreaLeft" fmla="*/ 0 w 8025120"/>
                <a:gd name="textAreaRight" fmla="*/ 8025480 w 8025120"/>
                <a:gd name="textAreaTop" fmla="*/ 0 h 2797920"/>
                <a:gd name="textAreaBottom" fmla="*/ 2798280 h 2797920"/>
              </a:gdLst>
              <a:ahLst/>
              <a:rect l="textAreaLeft" t="textAreaTop" r="textAreaRight" b="textAreaBottom"/>
              <a:pathLst>
                <a:path w="10700639" h="3731260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254" y="0"/>
                  </a:lnTo>
                  <a:cubicBezTo>
                    <a:pt x="10629265" y="0"/>
                    <a:pt x="10700639" y="71374"/>
                    <a:pt x="10700639" y="159385"/>
                  </a:cubicBezTo>
                  <a:lnTo>
                    <a:pt x="10700639" y="3571875"/>
                  </a:lnTo>
                  <a:cubicBezTo>
                    <a:pt x="10700639" y="3659886"/>
                    <a:pt x="10629265" y="3731260"/>
                    <a:pt x="10541254" y="3731260"/>
                  </a:cubicBezTo>
                  <a:lnTo>
                    <a:pt x="159385" y="3731260"/>
                  </a:lnTo>
                  <a:cubicBezTo>
                    <a:pt x="71374" y="3731387"/>
                    <a:pt x="0" y="3660013"/>
                    <a:pt x="0" y="3571875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" name="Group 24"/>
          <p:cNvGrpSpPr/>
          <p:nvPr/>
        </p:nvGrpSpPr>
        <p:grpSpPr>
          <a:xfrm>
            <a:off x="1286280" y="6696360"/>
            <a:ext cx="850680" cy="850680"/>
            <a:chOff x="1286280" y="6696360"/>
            <a:chExt cx="850680" cy="850680"/>
          </a:xfrm>
        </p:grpSpPr>
        <p:sp>
          <p:nvSpPr>
            <p:cNvPr id="119" name="Freeform 25"/>
            <p:cNvSpPr/>
            <p:nvPr/>
          </p:nvSpPr>
          <p:spPr>
            <a:xfrm>
              <a:off x="1286280" y="6696360"/>
              <a:ext cx="850680" cy="85068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850680"/>
                <a:gd name="textAreaBottom" fmla="*/ 851040 h 850680"/>
              </a:gdLst>
              <a:ahLst/>
              <a:rect l="textAreaLeft" t="textAreaTop" r="textAreaRight" b="textAreaBottom"/>
              <a:pathLst>
                <a:path w="1134872" h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1b1b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0" name="Freeform 26"/>
          <p:cNvSpPr/>
          <p:nvPr/>
        </p:nvSpPr>
        <p:spPr>
          <a:xfrm>
            <a:off x="1520280" y="6930360"/>
            <a:ext cx="382680" cy="382680"/>
          </a:xfrm>
          <a:custGeom>
            <a:avLst/>
            <a:gdLst>
              <a:gd name="textAreaLeft" fmla="*/ 0 w 382680"/>
              <a:gd name="textAreaRight" fmla="*/ 383040 w 382680"/>
              <a:gd name="textAreaTop" fmla="*/ 0 h 382680"/>
              <a:gd name="textAreaBottom" fmla="*/ 383040 h 382680"/>
            </a:gdLst>
            <a:ahLst/>
            <a:rect l="textAreaLeft" t="textAreaTop" r="textAreaRight" b="textAreaBottom"/>
            <a:pathLst>
              <a:path w="382924" h="38293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1286280" y="7812000"/>
            <a:ext cx="742896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Infra as Code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8"/>
          <p:cNvSpPr/>
          <p:nvPr/>
        </p:nvSpPr>
        <p:spPr>
          <a:xfrm>
            <a:off x="1286280" y="8358840"/>
            <a:ext cx="7428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Version-controlled infrastructure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Group 29"/>
          <p:cNvGrpSpPr/>
          <p:nvPr/>
        </p:nvGrpSpPr>
        <p:grpSpPr>
          <a:xfrm>
            <a:off x="9288000" y="6398280"/>
            <a:ext cx="8025480" cy="2797920"/>
            <a:chOff x="9288000" y="6398280"/>
            <a:chExt cx="8025480" cy="2797920"/>
          </a:xfrm>
        </p:grpSpPr>
        <p:sp>
          <p:nvSpPr>
            <p:cNvPr id="124" name="Freeform 30"/>
            <p:cNvSpPr/>
            <p:nvPr/>
          </p:nvSpPr>
          <p:spPr>
            <a:xfrm>
              <a:off x="9288000" y="6398280"/>
              <a:ext cx="8025480" cy="2797920"/>
            </a:xfrm>
            <a:custGeom>
              <a:avLst/>
              <a:gdLst>
                <a:gd name="textAreaLeft" fmla="*/ 0 w 8025480"/>
                <a:gd name="textAreaRight" fmla="*/ 8025840 w 8025480"/>
                <a:gd name="textAreaTop" fmla="*/ 0 h 2797920"/>
                <a:gd name="textAreaBottom" fmla="*/ 2798280 h 2797920"/>
              </a:gdLst>
              <a:ahLst/>
              <a:rect l="textAreaLeft" t="textAreaTop" r="textAreaRight" b="textAreaBottom"/>
              <a:pathLst>
                <a:path w="10700893" h="3731260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508" y="0"/>
                  </a:lnTo>
                  <a:cubicBezTo>
                    <a:pt x="10629519" y="0"/>
                    <a:pt x="10700893" y="71374"/>
                    <a:pt x="10700893" y="159385"/>
                  </a:cubicBezTo>
                  <a:lnTo>
                    <a:pt x="10700893" y="3571875"/>
                  </a:lnTo>
                  <a:cubicBezTo>
                    <a:pt x="10700893" y="3659886"/>
                    <a:pt x="10629519" y="3731260"/>
                    <a:pt x="10541508" y="3731260"/>
                  </a:cubicBezTo>
                  <a:lnTo>
                    <a:pt x="159385" y="3731260"/>
                  </a:lnTo>
                  <a:cubicBezTo>
                    <a:pt x="71374" y="3731387"/>
                    <a:pt x="0" y="3660013"/>
                    <a:pt x="0" y="3571875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" name="Group 31"/>
          <p:cNvGrpSpPr/>
          <p:nvPr/>
        </p:nvGrpSpPr>
        <p:grpSpPr>
          <a:xfrm>
            <a:off x="9586080" y="6696360"/>
            <a:ext cx="850680" cy="850680"/>
            <a:chOff x="9586080" y="6696360"/>
            <a:chExt cx="850680" cy="850680"/>
          </a:xfrm>
        </p:grpSpPr>
        <p:sp>
          <p:nvSpPr>
            <p:cNvPr id="126" name="Freeform 32"/>
            <p:cNvSpPr/>
            <p:nvPr/>
          </p:nvSpPr>
          <p:spPr>
            <a:xfrm>
              <a:off x="9586080" y="6696360"/>
              <a:ext cx="850680" cy="850680"/>
            </a:xfrm>
            <a:custGeom>
              <a:avLst/>
              <a:gdLst>
                <a:gd name="textAreaLeft" fmla="*/ 0 w 850680"/>
                <a:gd name="textAreaRight" fmla="*/ 851040 w 850680"/>
                <a:gd name="textAreaTop" fmla="*/ 0 h 850680"/>
                <a:gd name="textAreaBottom" fmla="*/ 851040 h 850680"/>
              </a:gdLst>
              <a:ahLst/>
              <a:rect l="textAreaLeft" t="textAreaTop" r="textAreaRight" b="textAreaBottom"/>
              <a:pathLst>
                <a:path w="1134872" h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1b1b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7" name="Freeform 33"/>
          <p:cNvSpPr/>
          <p:nvPr/>
        </p:nvSpPr>
        <p:spPr>
          <a:xfrm>
            <a:off x="9820080" y="6930360"/>
            <a:ext cx="382680" cy="382680"/>
          </a:xfrm>
          <a:custGeom>
            <a:avLst/>
            <a:gdLst>
              <a:gd name="textAreaLeft" fmla="*/ 0 w 382680"/>
              <a:gd name="textAreaRight" fmla="*/ 383040 w 382680"/>
              <a:gd name="textAreaTop" fmla="*/ 0 h 382680"/>
              <a:gd name="textAreaBottom" fmla="*/ 383040 h 382680"/>
            </a:gdLst>
            <a:ahLst/>
            <a:rect l="textAreaLeft" t="textAreaTop" r="textAreaRight" b="textAreaBottom"/>
            <a:pathLst>
              <a:path w="382924" h="38293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4"/>
          <p:cNvSpPr/>
          <p:nvPr/>
        </p:nvSpPr>
        <p:spPr>
          <a:xfrm>
            <a:off x="9586080" y="7812000"/>
            <a:ext cx="7429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Monitoring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35"/>
          <p:cNvSpPr/>
          <p:nvPr/>
        </p:nvSpPr>
        <p:spPr>
          <a:xfrm>
            <a:off x="9586080" y="8358840"/>
            <a:ext cx="74293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Know if the system behaves as expected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31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33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" name="Group 6"/>
          <p:cNvGrpSpPr/>
          <p:nvPr/>
        </p:nvGrpSpPr>
        <p:grpSpPr>
          <a:xfrm>
            <a:off x="992880" y="1241280"/>
            <a:ext cx="7811640" cy="7811640"/>
            <a:chOff x="992880" y="1241280"/>
            <a:chExt cx="7811640" cy="7811640"/>
          </a:xfrm>
        </p:grpSpPr>
        <p:sp>
          <p:nvSpPr>
            <p:cNvPr id="135" name="Freeform 7"/>
            <p:cNvSpPr/>
            <p:nvPr/>
          </p:nvSpPr>
          <p:spPr>
            <a:xfrm>
              <a:off x="992880" y="1241280"/>
              <a:ext cx="7811640" cy="7811640"/>
            </a:xfrm>
            <a:custGeom>
              <a:avLst/>
              <a:gdLst>
                <a:gd name="textAreaLeft" fmla="*/ 0 w 7811640"/>
                <a:gd name="textAreaRight" fmla="*/ 7812000 w 7811640"/>
                <a:gd name="textAreaTop" fmla="*/ 0 h 7811640"/>
                <a:gd name="textAreaBottom" fmla="*/ 7812000 h 7811640"/>
              </a:gdLst>
              <a:ahLst/>
              <a:rect l="textAreaLeft" t="textAreaTop" r="textAreaRight" b="textAreaBottom"/>
              <a:pathLst>
                <a:path w="10415778" h="10416032">
                  <a:moveTo>
                    <a:pt x="0" y="0"/>
                  </a:moveTo>
                  <a:lnTo>
                    <a:pt x="10415778" y="0"/>
                  </a:lnTo>
                  <a:lnTo>
                    <a:pt x="10415778" y="10416032"/>
                  </a:lnTo>
                  <a:lnTo>
                    <a:pt x="0" y="1041603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" name="Group 8"/>
          <p:cNvGrpSpPr/>
          <p:nvPr/>
        </p:nvGrpSpPr>
        <p:grpSpPr>
          <a:xfrm>
            <a:off x="9501840" y="2618280"/>
            <a:ext cx="2238840" cy="440280"/>
            <a:chOff x="9501840" y="2618280"/>
            <a:chExt cx="2238840" cy="440280"/>
          </a:xfrm>
        </p:grpSpPr>
        <p:sp>
          <p:nvSpPr>
            <p:cNvPr id="137" name="Freeform 9"/>
            <p:cNvSpPr/>
            <p:nvPr/>
          </p:nvSpPr>
          <p:spPr>
            <a:xfrm>
              <a:off x="9501840" y="2618280"/>
              <a:ext cx="2238840" cy="440280"/>
            </a:xfrm>
            <a:custGeom>
              <a:avLst/>
              <a:gdLst>
                <a:gd name="textAreaLeft" fmla="*/ 0 w 2238840"/>
                <a:gd name="textAreaRight" fmla="*/ 2239200 w 2238840"/>
                <a:gd name="textAreaTop" fmla="*/ 0 h 440280"/>
                <a:gd name="textAreaBottom" fmla="*/ 440640 h 440280"/>
              </a:gdLst>
              <a:ahLst/>
              <a:rect l="textAreaLeft" t="textAreaTop" r="textAreaRight" b="textAreaBottom"/>
              <a:pathLst>
                <a:path w="2985516" h="587375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855595" y="0"/>
                  </a:lnTo>
                  <a:cubicBezTo>
                    <a:pt x="2927350" y="0"/>
                    <a:pt x="2985516" y="58166"/>
                    <a:pt x="2985516" y="129921"/>
                  </a:cubicBezTo>
                  <a:lnTo>
                    <a:pt x="2985516" y="457454"/>
                  </a:lnTo>
                  <a:cubicBezTo>
                    <a:pt x="2985516" y="529209"/>
                    <a:pt x="2927350" y="587375"/>
                    <a:pt x="2855595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cap="sq" w="9532">
              <a:solidFill>
                <a:srgbClr val="1b1b27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8" name="TextBox 10"/>
          <p:cNvSpPr/>
          <p:nvPr/>
        </p:nvSpPr>
        <p:spPr>
          <a:xfrm>
            <a:off x="9676800" y="2717640"/>
            <a:ext cx="28040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87"/>
              </a:lnSpc>
            </a:pPr>
            <a:r>
              <a:rPr b="0" lang="en-US" sz="1729" spc="-1" strike="noStrike">
                <a:solidFill>
                  <a:srgbClr val="1b1b27"/>
                </a:solidFill>
                <a:latin typeface="Roboto"/>
                <a:ea typeface="Roboto"/>
              </a:rPr>
              <a:t>INFRASTRUCTURE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9506520" y="3129480"/>
            <a:ext cx="7811280" cy="17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How I Approach Infrastructure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9506520" y="5139000"/>
            <a:ext cx="7811280" cy="22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Reliability:</a:t>
            </a: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 How does the system recover from failure?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Scalability:</a:t>
            </a: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 Can it handle increased traffic?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Security:</a:t>
            </a: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 Access controls, secrets, permissions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Cost:</a:t>
            </a: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 Efficient without unnecessary expense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lvl="1" marL="394200" indent="-197280" defTabSz="914400">
              <a:lnSpc>
                <a:spcPts val="3475"/>
              </a:lnSpc>
              <a:buClr>
                <a:srgbClr val="3c3939"/>
              </a:buClr>
              <a:buFont typeface="Arial"/>
              <a:buChar char="•"/>
            </a:pPr>
            <a:r>
              <a:rPr b="1" lang="en-US" sz="2170" spc="-1" strike="noStrike">
                <a:solidFill>
                  <a:srgbClr val="3c3939"/>
                </a:solidFill>
                <a:latin typeface="Roboto Bold"/>
                <a:ea typeface="Roboto Bold"/>
              </a:rPr>
              <a:t>Reproducibility:</a:t>
            </a: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 Infrastructure as Code for consistency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42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44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" name="TextBox 6"/>
          <p:cNvSpPr/>
          <p:nvPr/>
        </p:nvSpPr>
        <p:spPr>
          <a:xfrm>
            <a:off x="992880" y="770400"/>
            <a:ext cx="1631556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02"/>
              </a:lnSpc>
            </a:pPr>
            <a:r>
              <a:rPr b="0" lang="en-US" sz="3530" spc="-1" strike="noStrike">
                <a:solidFill>
                  <a:srgbClr val="1b1b27"/>
                </a:solidFill>
                <a:latin typeface="Raleway"/>
                <a:ea typeface="Raleway"/>
              </a:rPr>
              <a:t>Project Intro: API Health Monitoring System</a:t>
            </a:r>
            <a:endParaRPr b="0" lang="en-US" sz="3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992880" y="1580760"/>
            <a:ext cx="17230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65"/>
              </a:lnSpc>
            </a:pPr>
            <a:r>
              <a:rPr b="0" lang="en-US" sz="1430" spc="-1" strike="noStrike">
                <a:solidFill>
                  <a:srgbClr val="3c3939"/>
                </a:solidFill>
                <a:latin typeface="Roboto"/>
                <a:ea typeface="Roboto"/>
              </a:rPr>
              <a:t>A cloud-native solution designed for proactive API health management and reliable issue detection.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" name="Group 8"/>
          <p:cNvGrpSpPr/>
          <p:nvPr/>
        </p:nvGrpSpPr>
        <p:grpSpPr>
          <a:xfrm>
            <a:off x="992880" y="1969200"/>
            <a:ext cx="16315560" cy="7156800"/>
            <a:chOff x="992880" y="1969200"/>
            <a:chExt cx="16315560" cy="7156800"/>
          </a:xfrm>
        </p:grpSpPr>
        <p:sp>
          <p:nvSpPr>
            <p:cNvPr id="148" name="Freeform 9"/>
            <p:cNvSpPr/>
            <p:nvPr/>
          </p:nvSpPr>
          <p:spPr>
            <a:xfrm>
              <a:off x="992880" y="1969200"/>
              <a:ext cx="16315560" cy="7156800"/>
            </a:xfrm>
            <a:custGeom>
              <a:avLst/>
              <a:gdLst>
                <a:gd name="textAreaLeft" fmla="*/ 0 w 16315560"/>
                <a:gd name="textAreaRight" fmla="*/ 16315920 w 16315560"/>
                <a:gd name="textAreaTop" fmla="*/ 0 h 7156800"/>
                <a:gd name="textAreaBottom" fmla="*/ 7157160 h 7156800"/>
              </a:gdLst>
              <a:ahLst/>
              <a:rect l="textAreaLeft" t="textAreaTop" r="textAreaRight" b="textAreaBottom"/>
              <a:pathLst>
                <a:path w="21754464" h="9543034">
                  <a:moveTo>
                    <a:pt x="0" y="0"/>
                  </a:moveTo>
                  <a:lnTo>
                    <a:pt x="21754464" y="0"/>
                  </a:lnTo>
                  <a:lnTo>
                    <a:pt x="21754464" y="9543034"/>
                  </a:lnTo>
                  <a:lnTo>
                    <a:pt x="0" y="954303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" name="TextBox 10"/>
          <p:cNvSpPr/>
          <p:nvPr/>
        </p:nvSpPr>
        <p:spPr>
          <a:xfrm>
            <a:off x="5937480" y="6876720"/>
            <a:ext cx="246564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1b1b27"/>
                </a:solidFill>
                <a:latin typeface="Raleway"/>
                <a:ea typeface="Raleway"/>
              </a:rPr>
              <a:t>Periodic Checks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5937480" y="7932960"/>
            <a:ext cx="24656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0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Scheduled health probes run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13771440" y="6876720"/>
            <a:ext cx="246564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1b1b27"/>
                </a:solidFill>
                <a:latin typeface="Raleway"/>
                <a:ea typeface="Raleway"/>
              </a:rPr>
              <a:t>Generate Alerts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3"/>
          <p:cNvSpPr/>
          <p:nvPr/>
        </p:nvSpPr>
        <p:spPr>
          <a:xfrm>
            <a:off x="13771440" y="7932960"/>
            <a:ext cx="24656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0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Emit notifications and events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2107080" y="2593440"/>
            <a:ext cx="24656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1b1b27"/>
                </a:solidFill>
                <a:latin typeface="Raleway"/>
                <a:ea typeface="Raleway"/>
              </a:rPr>
              <a:t>Register API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2107080" y="3208320"/>
            <a:ext cx="24656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0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Add endpoints and targets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6"/>
          <p:cNvSpPr/>
          <p:nvPr/>
        </p:nvSpPr>
        <p:spPr>
          <a:xfrm>
            <a:off x="9909360" y="2593440"/>
            <a:ext cx="246564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1b1b27"/>
                </a:solidFill>
                <a:latin typeface="Raleway"/>
                <a:ea typeface="Raleway"/>
              </a:rPr>
              <a:t>Detect Changes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7"/>
          <p:cNvSpPr/>
          <p:nvPr/>
        </p:nvSpPr>
        <p:spPr>
          <a:xfrm>
            <a:off x="9909360" y="3649680"/>
            <a:ext cx="246564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220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Identify state transitions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992880" y="9238320"/>
            <a:ext cx="17230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65"/>
              </a:lnSpc>
            </a:pPr>
            <a:r>
              <a:rPr b="0" lang="en-US" sz="1430" spc="-1" strike="noStrike">
                <a:solidFill>
                  <a:srgbClr val="3c3939"/>
                </a:solidFill>
                <a:latin typeface="Roboto"/>
                <a:ea typeface="Roboto"/>
              </a:rPr>
              <a:t>This system leverages a </a:t>
            </a:r>
            <a:r>
              <a:rPr b="1" lang="en-US" sz="1430" spc="-1" strike="noStrike">
                <a:solidFill>
                  <a:srgbClr val="3c3939"/>
                </a:solidFill>
                <a:latin typeface="Roboto Bold"/>
                <a:ea typeface="Roboto Bold"/>
              </a:rPr>
              <a:t>decoupled, event-driven architecture</a:t>
            </a:r>
            <a:r>
              <a:rPr b="0" lang="en-US" sz="1430" spc="-1" strike="noStrike">
                <a:solidFill>
                  <a:srgbClr val="3c3939"/>
                </a:solidFill>
                <a:latin typeface="Roboto"/>
                <a:ea typeface="Roboto"/>
              </a:rPr>
              <a:t> to efficiently monitor user-defined APIs, evaluate health with configurable rules, and scale for numerous endpoints.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59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61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" name="Group 6"/>
          <p:cNvGrpSpPr/>
          <p:nvPr/>
        </p:nvGrpSpPr>
        <p:grpSpPr>
          <a:xfrm>
            <a:off x="0" y="0"/>
            <a:ext cx="6862680" cy="10294560"/>
            <a:chOff x="0" y="0"/>
            <a:chExt cx="6862680" cy="10294560"/>
          </a:xfrm>
        </p:grpSpPr>
        <p:sp>
          <p:nvSpPr>
            <p:cNvPr id="163" name="Freeform 7"/>
            <p:cNvSpPr/>
            <p:nvPr/>
          </p:nvSpPr>
          <p:spPr>
            <a:xfrm>
              <a:off x="0" y="0"/>
              <a:ext cx="6862680" cy="10294560"/>
            </a:xfrm>
            <a:custGeom>
              <a:avLst/>
              <a:gdLst>
                <a:gd name="textAreaLeft" fmla="*/ 0 w 6862680"/>
                <a:gd name="textAreaRight" fmla="*/ 6863040 w 686268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Group 8"/>
          <p:cNvGrpSpPr/>
          <p:nvPr/>
        </p:nvGrpSpPr>
        <p:grpSpPr>
          <a:xfrm>
            <a:off x="141840" y="761040"/>
            <a:ext cx="6579000" cy="8772480"/>
            <a:chOff x="141840" y="761040"/>
            <a:chExt cx="6579000" cy="8772480"/>
          </a:xfrm>
        </p:grpSpPr>
        <p:sp>
          <p:nvSpPr>
            <p:cNvPr id="165" name="Freeform 9"/>
            <p:cNvSpPr/>
            <p:nvPr/>
          </p:nvSpPr>
          <p:spPr>
            <a:xfrm>
              <a:off x="141840" y="761040"/>
              <a:ext cx="6579000" cy="8772480"/>
            </a:xfrm>
            <a:custGeom>
              <a:avLst/>
              <a:gdLst>
                <a:gd name="textAreaLeft" fmla="*/ 0 w 6579000"/>
                <a:gd name="textAreaRight" fmla="*/ 6579360 w 6579000"/>
                <a:gd name="textAreaTop" fmla="*/ 0 h 8772480"/>
                <a:gd name="textAreaBottom" fmla="*/ 8772840 h 8772480"/>
              </a:gdLst>
              <a:ahLst/>
              <a:rect l="textAreaLeft" t="textAreaTop" r="textAreaRight" b="textAreaBottom"/>
              <a:pathLst>
                <a:path w="8772652" h="11697335">
                  <a:moveTo>
                    <a:pt x="0" y="0"/>
                  </a:moveTo>
                  <a:lnTo>
                    <a:pt x="8772652" y="0"/>
                  </a:lnTo>
                  <a:lnTo>
                    <a:pt x="8772652" y="11697335"/>
                  </a:lnTo>
                  <a:lnTo>
                    <a:pt x="0" y="1169733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6" name="TextBox 10"/>
          <p:cNvSpPr/>
          <p:nvPr/>
        </p:nvSpPr>
        <p:spPr>
          <a:xfrm>
            <a:off x="7856280" y="1048320"/>
            <a:ext cx="945216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CI/CD: Safe &amp; Predictable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7" name="Group 11"/>
          <p:cNvGrpSpPr/>
          <p:nvPr/>
        </p:nvGrpSpPr>
        <p:grpSpPr>
          <a:xfrm>
            <a:off x="7856280" y="2398680"/>
            <a:ext cx="1418400" cy="1702080"/>
            <a:chOff x="7856280" y="2398680"/>
            <a:chExt cx="1418400" cy="1702080"/>
          </a:xfrm>
        </p:grpSpPr>
        <p:sp>
          <p:nvSpPr>
            <p:cNvPr id="168" name="Freeform 12"/>
            <p:cNvSpPr/>
            <p:nvPr/>
          </p:nvSpPr>
          <p:spPr>
            <a:xfrm>
              <a:off x="7856280" y="2398680"/>
              <a:ext cx="1418400" cy="1702080"/>
            </a:xfrm>
            <a:custGeom>
              <a:avLst/>
              <a:gdLst>
                <a:gd name="textAreaLeft" fmla="*/ 0 w 1418400"/>
                <a:gd name="textAreaRight" fmla="*/ 1418760 w 1418400"/>
                <a:gd name="textAreaTop" fmla="*/ 0 h 1702080"/>
                <a:gd name="textAreaBottom" fmla="*/ 1702440 h 1702080"/>
              </a:gdLst>
              <a:ahLst/>
              <a:rect l="textAreaLeft" t="textAreaTop" r="textAreaRight" b="textAreaBottom"/>
              <a:pathLst>
                <a:path w="1891538" h="2269871">
                  <a:moveTo>
                    <a:pt x="0" y="0"/>
                  </a:moveTo>
                  <a:lnTo>
                    <a:pt x="1891538" y="0"/>
                  </a:lnTo>
                  <a:lnTo>
                    <a:pt x="1891538" y="2269871"/>
                  </a:lnTo>
                  <a:lnTo>
                    <a:pt x="0" y="22698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9" name="TextBox 13"/>
          <p:cNvSpPr/>
          <p:nvPr/>
        </p:nvSpPr>
        <p:spPr>
          <a:xfrm>
            <a:off x="9558720" y="2663280"/>
            <a:ext cx="77500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Validate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4"/>
          <p:cNvSpPr/>
          <p:nvPr/>
        </p:nvSpPr>
        <p:spPr>
          <a:xfrm>
            <a:off x="9558720" y="3210120"/>
            <a:ext cx="77500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Every code push triggers automated checks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1" name="Group 15"/>
          <p:cNvGrpSpPr/>
          <p:nvPr/>
        </p:nvGrpSpPr>
        <p:grpSpPr>
          <a:xfrm>
            <a:off x="7856280" y="4101120"/>
            <a:ext cx="1418400" cy="1702080"/>
            <a:chOff x="7856280" y="4101120"/>
            <a:chExt cx="1418400" cy="1702080"/>
          </a:xfrm>
        </p:grpSpPr>
        <p:sp>
          <p:nvSpPr>
            <p:cNvPr id="172" name="Freeform 16"/>
            <p:cNvSpPr/>
            <p:nvPr/>
          </p:nvSpPr>
          <p:spPr>
            <a:xfrm>
              <a:off x="7856280" y="4101120"/>
              <a:ext cx="1418400" cy="1702080"/>
            </a:xfrm>
            <a:custGeom>
              <a:avLst/>
              <a:gdLst>
                <a:gd name="textAreaLeft" fmla="*/ 0 w 1418400"/>
                <a:gd name="textAreaRight" fmla="*/ 1418760 w 1418400"/>
                <a:gd name="textAreaTop" fmla="*/ 0 h 1702080"/>
                <a:gd name="textAreaBottom" fmla="*/ 1702440 h 1702080"/>
              </a:gdLst>
              <a:ahLst/>
              <a:rect l="textAreaLeft" t="textAreaTop" r="textAreaRight" b="textAreaBottom"/>
              <a:pathLst>
                <a:path w="1891538" h="2269871">
                  <a:moveTo>
                    <a:pt x="0" y="0"/>
                  </a:moveTo>
                  <a:lnTo>
                    <a:pt x="1891538" y="0"/>
                  </a:lnTo>
                  <a:lnTo>
                    <a:pt x="1891538" y="2269871"/>
                  </a:lnTo>
                  <a:lnTo>
                    <a:pt x="0" y="22698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3" name="TextBox 17"/>
          <p:cNvSpPr/>
          <p:nvPr/>
        </p:nvSpPr>
        <p:spPr>
          <a:xfrm>
            <a:off x="9558720" y="4365720"/>
            <a:ext cx="77500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Build &amp; Test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9558720" y="4912560"/>
            <a:ext cx="77500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Consistent, repeatable pipeline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5" name="Group 19"/>
          <p:cNvGrpSpPr/>
          <p:nvPr/>
        </p:nvGrpSpPr>
        <p:grpSpPr>
          <a:xfrm>
            <a:off x="7856280" y="5803560"/>
            <a:ext cx="1418400" cy="1702080"/>
            <a:chOff x="7856280" y="5803560"/>
            <a:chExt cx="1418400" cy="1702080"/>
          </a:xfrm>
        </p:grpSpPr>
        <p:sp>
          <p:nvSpPr>
            <p:cNvPr id="176" name="Freeform 20"/>
            <p:cNvSpPr/>
            <p:nvPr/>
          </p:nvSpPr>
          <p:spPr>
            <a:xfrm>
              <a:off x="7856280" y="5803560"/>
              <a:ext cx="1418400" cy="1702080"/>
            </a:xfrm>
            <a:custGeom>
              <a:avLst/>
              <a:gdLst>
                <a:gd name="textAreaLeft" fmla="*/ 0 w 1418400"/>
                <a:gd name="textAreaRight" fmla="*/ 1418760 w 1418400"/>
                <a:gd name="textAreaTop" fmla="*/ 0 h 1702080"/>
                <a:gd name="textAreaBottom" fmla="*/ 1702440 h 1702080"/>
              </a:gdLst>
              <a:ahLst/>
              <a:rect l="textAreaLeft" t="textAreaTop" r="textAreaRight" b="textAreaBottom"/>
              <a:pathLst>
                <a:path w="1891538" h="2269871">
                  <a:moveTo>
                    <a:pt x="0" y="0"/>
                  </a:moveTo>
                  <a:lnTo>
                    <a:pt x="1891538" y="0"/>
                  </a:lnTo>
                  <a:lnTo>
                    <a:pt x="1891538" y="2269871"/>
                  </a:lnTo>
                  <a:lnTo>
                    <a:pt x="0" y="22698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" name="TextBox 21"/>
          <p:cNvSpPr/>
          <p:nvPr/>
        </p:nvSpPr>
        <p:spPr>
          <a:xfrm>
            <a:off x="9558720" y="6068160"/>
            <a:ext cx="77500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Deploy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22"/>
          <p:cNvSpPr/>
          <p:nvPr/>
        </p:nvSpPr>
        <p:spPr>
          <a:xfrm>
            <a:off x="9558720" y="6615000"/>
            <a:ext cx="77500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Rollback strategy, approval gates, secret management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9" name="Group 23"/>
          <p:cNvGrpSpPr/>
          <p:nvPr/>
        </p:nvGrpSpPr>
        <p:grpSpPr>
          <a:xfrm>
            <a:off x="7856280" y="7506000"/>
            <a:ext cx="1418400" cy="1702080"/>
            <a:chOff x="7856280" y="7506000"/>
            <a:chExt cx="1418400" cy="1702080"/>
          </a:xfrm>
        </p:grpSpPr>
        <p:sp>
          <p:nvSpPr>
            <p:cNvPr id="180" name="Freeform 24"/>
            <p:cNvSpPr/>
            <p:nvPr/>
          </p:nvSpPr>
          <p:spPr>
            <a:xfrm>
              <a:off x="7856280" y="7506000"/>
              <a:ext cx="1418400" cy="1702080"/>
            </a:xfrm>
            <a:custGeom>
              <a:avLst/>
              <a:gdLst>
                <a:gd name="textAreaLeft" fmla="*/ 0 w 1418400"/>
                <a:gd name="textAreaRight" fmla="*/ 1418760 w 1418400"/>
                <a:gd name="textAreaTop" fmla="*/ 0 h 1702080"/>
                <a:gd name="textAreaBottom" fmla="*/ 1702440 h 1702080"/>
              </a:gdLst>
              <a:ahLst/>
              <a:rect l="textAreaLeft" t="textAreaTop" r="textAreaRight" b="textAreaBottom"/>
              <a:pathLst>
                <a:path w="1891538" h="2269871">
                  <a:moveTo>
                    <a:pt x="0" y="0"/>
                  </a:moveTo>
                  <a:lnTo>
                    <a:pt x="1891538" y="0"/>
                  </a:lnTo>
                  <a:lnTo>
                    <a:pt x="1891538" y="2269871"/>
                  </a:lnTo>
                  <a:lnTo>
                    <a:pt x="0" y="22698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1" name="TextBox 25"/>
          <p:cNvSpPr/>
          <p:nvPr/>
        </p:nvSpPr>
        <p:spPr>
          <a:xfrm>
            <a:off x="9558720" y="7770600"/>
            <a:ext cx="77500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Verify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26"/>
          <p:cNvSpPr/>
          <p:nvPr/>
        </p:nvSpPr>
        <p:spPr>
          <a:xfrm>
            <a:off x="9558720" y="8317440"/>
            <a:ext cx="77500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Less manual effort, fewer human errors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84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5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186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7" name="TextBox 6"/>
          <p:cNvSpPr/>
          <p:nvPr/>
        </p:nvSpPr>
        <p:spPr>
          <a:xfrm>
            <a:off x="992880" y="2753280"/>
            <a:ext cx="1036260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Monitoring &amp; Observability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7"/>
          <p:cNvSpPr/>
          <p:nvPr/>
        </p:nvSpPr>
        <p:spPr>
          <a:xfrm>
            <a:off x="992880" y="3876120"/>
            <a:ext cx="112777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Give engineers the information they need to troubleshoot quickly.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3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4400" y="4811760"/>
            <a:ext cx="3200400" cy="2678760"/>
          </a:xfrm>
          <a:prstGeom prst="rect">
            <a:avLst/>
          </a:prstGeom>
          <a:ln w="0">
            <a:noFill/>
          </a:ln>
        </p:spPr>
      </p:pic>
      <p:sp>
        <p:nvSpPr>
          <p:cNvPr id="190" name="TextBox 9"/>
          <p:cNvSpPr/>
          <p:nvPr/>
        </p:nvSpPr>
        <p:spPr>
          <a:xfrm>
            <a:off x="1467360" y="5037840"/>
            <a:ext cx="24685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Metrics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1467360" y="5698080"/>
            <a:ext cx="2468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CPU, memory, latency, request rates, error rates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72000" y="4800600"/>
            <a:ext cx="3200400" cy="2678760"/>
          </a:xfrm>
          <a:prstGeom prst="rect">
            <a:avLst/>
          </a:prstGeom>
          <a:ln w="0">
            <a:noFill/>
          </a:ln>
        </p:spPr>
      </p:pic>
      <p:sp>
        <p:nvSpPr>
          <p:cNvPr id="193" name="TextBox 12"/>
          <p:cNvSpPr/>
          <p:nvPr/>
        </p:nvSpPr>
        <p:spPr>
          <a:xfrm>
            <a:off x="5016240" y="5037840"/>
            <a:ext cx="24685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Logs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5016240" y="5698080"/>
            <a:ext cx="2468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Understand what happened when issues occur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01000" y="4800600"/>
            <a:ext cx="3429000" cy="2678760"/>
          </a:xfrm>
          <a:prstGeom prst="rect">
            <a:avLst/>
          </a:prstGeom>
          <a:ln w="0">
            <a:noFill/>
          </a:ln>
        </p:spPr>
      </p:pic>
      <p:sp>
        <p:nvSpPr>
          <p:cNvPr id="196" name="TextBox 15"/>
          <p:cNvSpPr/>
          <p:nvPr/>
        </p:nvSpPr>
        <p:spPr>
          <a:xfrm>
            <a:off x="8565120" y="5037840"/>
            <a:ext cx="24685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Alerts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8565120" y="5698080"/>
            <a:ext cx="2468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Meaningful signals that require action — not noise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8" name="Group 17"/>
          <p:cNvGrpSpPr/>
          <p:nvPr/>
        </p:nvGrpSpPr>
        <p:grpSpPr>
          <a:xfrm>
            <a:off x="12057840" y="2517120"/>
            <a:ext cx="5259960" cy="5260320"/>
            <a:chOff x="12057840" y="2517120"/>
            <a:chExt cx="5259960" cy="5260320"/>
          </a:xfrm>
        </p:grpSpPr>
        <p:sp>
          <p:nvSpPr>
            <p:cNvPr id="199" name="Freeform 18"/>
            <p:cNvSpPr/>
            <p:nvPr/>
          </p:nvSpPr>
          <p:spPr>
            <a:xfrm>
              <a:off x="12057840" y="2517120"/>
              <a:ext cx="5259960" cy="5260320"/>
            </a:xfrm>
            <a:custGeom>
              <a:avLst/>
              <a:gdLst>
                <a:gd name="textAreaLeft" fmla="*/ 0 w 5259960"/>
                <a:gd name="textAreaRight" fmla="*/ 5260320 w 5259960"/>
                <a:gd name="textAreaTop" fmla="*/ 0 h 5260320"/>
                <a:gd name="textAreaBottom" fmla="*/ 5260680 h 5260320"/>
              </a:gdLst>
              <a:ahLst/>
              <a:rect l="textAreaLeft" t="textAreaTop" r="textAreaRight" b="textAreaBottom"/>
              <a:pathLst>
                <a:path w="7013956" h="7014083">
                  <a:moveTo>
                    <a:pt x="0" y="0"/>
                  </a:moveTo>
                  <a:lnTo>
                    <a:pt x="7013956" y="0"/>
                  </a:lnTo>
                  <a:lnTo>
                    <a:pt x="7013956" y="7014083"/>
                  </a:lnTo>
                  <a:lnTo>
                    <a:pt x="0" y="701408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01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03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4" name="TextBox 6"/>
          <p:cNvSpPr/>
          <p:nvPr/>
        </p:nvSpPr>
        <p:spPr>
          <a:xfrm>
            <a:off x="992880" y="3573000"/>
            <a:ext cx="1631556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Security Throughout DevOps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5" name="Group 7"/>
          <p:cNvGrpSpPr/>
          <p:nvPr/>
        </p:nvGrpSpPr>
        <p:grpSpPr>
          <a:xfrm>
            <a:off x="988200" y="5060520"/>
            <a:ext cx="647640" cy="647640"/>
            <a:chOff x="988200" y="5060520"/>
            <a:chExt cx="647640" cy="647640"/>
          </a:xfrm>
        </p:grpSpPr>
        <p:sp>
          <p:nvSpPr>
            <p:cNvPr id="206" name="Freeform 8"/>
            <p:cNvSpPr/>
            <p:nvPr/>
          </p:nvSpPr>
          <p:spPr>
            <a:xfrm>
              <a:off x="988200" y="5060520"/>
              <a:ext cx="647640" cy="647640"/>
            </a:xfrm>
            <a:custGeom>
              <a:avLst/>
              <a:gdLst>
                <a:gd name="textAreaLeft" fmla="*/ 0 w 647640"/>
                <a:gd name="textAreaRight" fmla="*/ 648000 w 647640"/>
                <a:gd name="textAreaTop" fmla="*/ 0 h 647640"/>
                <a:gd name="textAreaBottom" fmla="*/ 648000 h 647640"/>
              </a:gdLst>
              <a:ahLst/>
              <a:rect l="textAreaLeft" t="textAreaTop" r="textAreaRight" b="textAreaBottom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7" name="TextBox 9"/>
          <p:cNvSpPr/>
          <p:nvPr/>
        </p:nvSpPr>
        <p:spPr>
          <a:xfrm>
            <a:off x="1915200" y="5143680"/>
            <a:ext cx="42796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Built In, Not Bolted On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1915200" y="5690520"/>
            <a:ext cx="42796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Security is part of the design — not an afterthought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9" name="Group 11"/>
          <p:cNvGrpSpPr/>
          <p:nvPr/>
        </p:nvGrpSpPr>
        <p:grpSpPr>
          <a:xfrm>
            <a:off x="6545160" y="5060520"/>
            <a:ext cx="647640" cy="647640"/>
            <a:chOff x="6545160" y="5060520"/>
            <a:chExt cx="647640" cy="647640"/>
          </a:xfrm>
        </p:grpSpPr>
        <p:sp>
          <p:nvSpPr>
            <p:cNvPr id="210" name="Freeform 12"/>
            <p:cNvSpPr/>
            <p:nvPr/>
          </p:nvSpPr>
          <p:spPr>
            <a:xfrm>
              <a:off x="6545160" y="5060520"/>
              <a:ext cx="647640" cy="647640"/>
            </a:xfrm>
            <a:custGeom>
              <a:avLst/>
              <a:gdLst>
                <a:gd name="textAreaLeft" fmla="*/ 0 w 647640"/>
                <a:gd name="textAreaRight" fmla="*/ 648000 w 647640"/>
                <a:gd name="textAreaTop" fmla="*/ 0 h 647640"/>
                <a:gd name="textAreaBottom" fmla="*/ 648000 h 647640"/>
              </a:gdLst>
              <a:ahLst/>
              <a:rect l="textAreaLeft" t="textAreaTop" r="textAreaRight" b="textAreaBottom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1" name="TextBox 13"/>
          <p:cNvSpPr/>
          <p:nvPr/>
        </p:nvSpPr>
        <p:spPr>
          <a:xfrm>
            <a:off x="7471800" y="5143680"/>
            <a:ext cx="42796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Least Privilege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4"/>
          <p:cNvSpPr/>
          <p:nvPr/>
        </p:nvSpPr>
        <p:spPr>
          <a:xfrm>
            <a:off x="7471800" y="5690520"/>
            <a:ext cx="42796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Only the permissions actually needed, nothing more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3" name="Group 15"/>
          <p:cNvGrpSpPr/>
          <p:nvPr/>
        </p:nvGrpSpPr>
        <p:grpSpPr>
          <a:xfrm>
            <a:off x="12101760" y="5060520"/>
            <a:ext cx="647640" cy="647640"/>
            <a:chOff x="12101760" y="5060520"/>
            <a:chExt cx="647640" cy="647640"/>
          </a:xfrm>
        </p:grpSpPr>
        <p:sp>
          <p:nvSpPr>
            <p:cNvPr id="214" name="Freeform 16"/>
            <p:cNvSpPr/>
            <p:nvPr/>
          </p:nvSpPr>
          <p:spPr>
            <a:xfrm>
              <a:off x="12101760" y="5060520"/>
              <a:ext cx="647640" cy="647640"/>
            </a:xfrm>
            <a:custGeom>
              <a:avLst/>
              <a:gdLst>
                <a:gd name="textAreaLeft" fmla="*/ 0 w 647640"/>
                <a:gd name="textAreaRight" fmla="*/ 648000 w 647640"/>
                <a:gd name="textAreaTop" fmla="*/ 0 h 647640"/>
                <a:gd name="textAreaBottom" fmla="*/ 648000 h 647640"/>
              </a:gdLst>
              <a:ahLst/>
              <a:rect l="textAreaLeft" t="textAreaTop" r="textAreaRight" b="textAreaBottom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e1e1ea"/>
            </a:solidFill>
            <a:ln cap="sq" w="9532">
              <a:solidFill>
                <a:srgbClr val="c7c7d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5" name="TextBox 17"/>
          <p:cNvSpPr/>
          <p:nvPr/>
        </p:nvSpPr>
        <p:spPr>
          <a:xfrm>
            <a:off x="13028760" y="5143680"/>
            <a:ext cx="42796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Shift Left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8"/>
          <p:cNvSpPr/>
          <p:nvPr/>
        </p:nvSpPr>
        <p:spPr>
          <a:xfrm>
            <a:off x="13028760" y="5690520"/>
            <a:ext cx="42796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Identify vulnerabilities in applications and containers early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18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20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" name="Group 6"/>
          <p:cNvGrpSpPr/>
          <p:nvPr/>
        </p:nvGrpSpPr>
        <p:grpSpPr>
          <a:xfrm>
            <a:off x="992880" y="2510280"/>
            <a:ext cx="5274360" cy="5274360"/>
            <a:chOff x="992880" y="2510280"/>
            <a:chExt cx="5274360" cy="5274360"/>
          </a:xfrm>
        </p:grpSpPr>
        <p:sp>
          <p:nvSpPr>
            <p:cNvPr id="222" name="Freeform 7"/>
            <p:cNvSpPr/>
            <p:nvPr/>
          </p:nvSpPr>
          <p:spPr>
            <a:xfrm>
              <a:off x="992880" y="2510280"/>
              <a:ext cx="5274360" cy="5274360"/>
            </a:xfrm>
            <a:custGeom>
              <a:avLst/>
              <a:gdLst>
                <a:gd name="textAreaLeft" fmla="*/ 0 w 5274360"/>
                <a:gd name="textAreaRight" fmla="*/ 5274720 w 5274360"/>
                <a:gd name="textAreaTop" fmla="*/ 0 h 5274360"/>
                <a:gd name="textAreaBottom" fmla="*/ 5274720 h 5274360"/>
              </a:gdLst>
              <a:ahLst/>
              <a:rect l="textAreaLeft" t="textAreaTop" r="textAreaRight" b="textAreaBottom"/>
              <a:pathLst>
                <a:path w="7032752" h="7033006">
                  <a:moveTo>
                    <a:pt x="0" y="0"/>
                  </a:moveTo>
                  <a:lnTo>
                    <a:pt x="7032752" y="0"/>
                  </a:lnTo>
                  <a:lnTo>
                    <a:pt x="7032752" y="7033006"/>
                  </a:lnTo>
                  <a:lnTo>
                    <a:pt x="0" y="703300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" name="Group 8"/>
          <p:cNvGrpSpPr/>
          <p:nvPr/>
        </p:nvGrpSpPr>
        <p:grpSpPr>
          <a:xfrm>
            <a:off x="6947640" y="1117800"/>
            <a:ext cx="2268000" cy="417240"/>
            <a:chOff x="6947640" y="1117800"/>
            <a:chExt cx="2268000" cy="417240"/>
          </a:xfrm>
        </p:grpSpPr>
        <p:sp>
          <p:nvSpPr>
            <p:cNvPr id="224" name="Freeform 9"/>
            <p:cNvSpPr/>
            <p:nvPr/>
          </p:nvSpPr>
          <p:spPr>
            <a:xfrm>
              <a:off x="6947640" y="1117800"/>
              <a:ext cx="2268000" cy="417240"/>
            </a:xfrm>
            <a:custGeom>
              <a:avLst/>
              <a:gdLst>
                <a:gd name="textAreaLeft" fmla="*/ 0 w 2268000"/>
                <a:gd name="textAreaRight" fmla="*/ 2268360 w 2268000"/>
                <a:gd name="textAreaTop" fmla="*/ 0 h 417240"/>
                <a:gd name="textAreaBottom" fmla="*/ 417600 h 417240"/>
              </a:gdLst>
              <a:ahLst/>
              <a:rect l="textAreaLeft" t="textAreaTop" r="textAreaRight" b="textAreaBottom"/>
              <a:pathLst>
                <a:path w="3024505" h="556641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lnTo>
                    <a:pt x="2901315" y="0"/>
                  </a:lnTo>
                  <a:cubicBezTo>
                    <a:pt x="2969387" y="0"/>
                    <a:pt x="3024505" y="55118"/>
                    <a:pt x="3024505" y="123190"/>
                  </a:cubicBezTo>
                  <a:lnTo>
                    <a:pt x="3024505" y="433451"/>
                  </a:lnTo>
                  <a:cubicBezTo>
                    <a:pt x="3024505" y="501523"/>
                    <a:pt x="2969387" y="556641"/>
                    <a:pt x="2901315" y="556641"/>
                  </a:cubicBezTo>
                  <a:lnTo>
                    <a:pt x="123190" y="556641"/>
                  </a:lnTo>
                  <a:cubicBezTo>
                    <a:pt x="55118" y="556641"/>
                    <a:pt x="0" y="501523"/>
                    <a:pt x="0" y="433451"/>
                  </a:cubicBez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5" name="TextBox 10"/>
          <p:cNvSpPr/>
          <p:nvPr/>
        </p:nvSpPr>
        <p:spPr>
          <a:xfrm>
            <a:off x="7112520" y="1209960"/>
            <a:ext cx="28533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87"/>
              </a:lnSpc>
            </a:pPr>
            <a:r>
              <a:rPr b="0" lang="en-US" sz="1729" spc="-1" strike="noStrike">
                <a:solidFill>
                  <a:srgbClr val="3c3939"/>
                </a:solidFill>
                <a:latin typeface="Roboto"/>
                <a:ea typeface="Roboto"/>
              </a:rPr>
              <a:t>PROBLEM SOLVING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11"/>
          <p:cNvSpPr/>
          <p:nvPr/>
        </p:nvSpPr>
        <p:spPr>
          <a:xfrm>
            <a:off x="6947640" y="1603800"/>
            <a:ext cx="103701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44"/>
              </a:lnSpc>
            </a:pPr>
            <a:r>
              <a:rPr b="0" lang="en-US" sz="5410" spc="-1" strike="noStrike">
                <a:solidFill>
                  <a:srgbClr val="1b1b27"/>
                </a:solidFill>
                <a:latin typeface="Raleway"/>
                <a:ea typeface="Raleway"/>
              </a:rPr>
              <a:t>Troubleshooting Approach</a:t>
            </a:r>
            <a:endParaRPr b="0" lang="en-US" sz="541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Group 12"/>
          <p:cNvGrpSpPr/>
          <p:nvPr/>
        </p:nvGrpSpPr>
        <p:grpSpPr>
          <a:xfrm>
            <a:off x="8262360" y="2800440"/>
            <a:ext cx="7740720" cy="4593960"/>
            <a:chOff x="8262360" y="2800440"/>
            <a:chExt cx="7740720" cy="4593960"/>
          </a:xfrm>
        </p:grpSpPr>
        <p:sp>
          <p:nvSpPr>
            <p:cNvPr id="228" name="Freeform 13"/>
            <p:cNvSpPr/>
            <p:nvPr/>
          </p:nvSpPr>
          <p:spPr>
            <a:xfrm>
              <a:off x="8262360" y="2800440"/>
              <a:ext cx="7740720" cy="4593960"/>
            </a:xfrm>
            <a:custGeom>
              <a:avLst/>
              <a:gdLst>
                <a:gd name="textAreaLeft" fmla="*/ 0 w 7740720"/>
                <a:gd name="textAreaRight" fmla="*/ 7741080 w 7740720"/>
                <a:gd name="textAreaTop" fmla="*/ 0 h 4593960"/>
                <a:gd name="textAreaBottom" fmla="*/ 4594320 h 4593960"/>
              </a:gdLst>
              <a:ahLst/>
              <a:rect l="textAreaLeft" t="textAreaTop" r="textAreaRight" b="textAreaBottom"/>
              <a:pathLst>
                <a:path w="10321417" h="6125972">
                  <a:moveTo>
                    <a:pt x="0" y="0"/>
                  </a:moveTo>
                  <a:lnTo>
                    <a:pt x="10321417" y="0"/>
                  </a:lnTo>
                  <a:lnTo>
                    <a:pt x="10321417" y="6125972"/>
                  </a:lnTo>
                  <a:lnTo>
                    <a:pt x="0" y="612597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9" name="TextBox 14"/>
          <p:cNvSpPr/>
          <p:nvPr/>
        </p:nvSpPr>
        <p:spPr>
          <a:xfrm>
            <a:off x="13650120" y="6300720"/>
            <a:ext cx="1923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3"/>
              </a:lnSpc>
            </a:pPr>
            <a:r>
              <a:rPr b="0" lang="en-US" sz="2320" spc="-1" strike="noStrike">
                <a:solidFill>
                  <a:srgbClr val="3c3939"/>
                </a:solidFill>
                <a:latin typeface="Raleway"/>
                <a:ea typeface="Raleway"/>
              </a:rPr>
              <a:t>Resolve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5"/>
          <p:cNvSpPr/>
          <p:nvPr/>
        </p:nvSpPr>
        <p:spPr>
          <a:xfrm>
            <a:off x="11225160" y="6300720"/>
            <a:ext cx="1923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3"/>
              </a:lnSpc>
            </a:pPr>
            <a:r>
              <a:rPr b="0" lang="en-US" sz="2320" spc="-1" strike="noStrike">
                <a:solidFill>
                  <a:srgbClr val="3c3939"/>
                </a:solidFill>
                <a:latin typeface="Raleway"/>
                <a:ea typeface="Raleway"/>
              </a:rPr>
              <a:t>Narrow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6"/>
          <p:cNvSpPr/>
          <p:nvPr/>
        </p:nvSpPr>
        <p:spPr>
          <a:xfrm>
            <a:off x="8760600" y="6300720"/>
            <a:ext cx="1923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03"/>
              </a:lnSpc>
            </a:pPr>
            <a:r>
              <a:rPr b="0" lang="en-US" sz="2320" spc="-1" strike="noStrike">
                <a:solidFill>
                  <a:srgbClr val="3c3939"/>
                </a:solidFill>
                <a:latin typeface="Raleway"/>
                <a:ea typeface="Raleway"/>
              </a:rPr>
              <a:t>Identify</a:t>
            </a:r>
            <a:endParaRPr b="0" lang="en-US" sz="23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2" name="Group 17"/>
          <p:cNvGrpSpPr/>
          <p:nvPr/>
        </p:nvGrpSpPr>
        <p:grpSpPr>
          <a:xfrm>
            <a:off x="6947640" y="7694640"/>
            <a:ext cx="10370160" cy="1482120"/>
            <a:chOff x="6947640" y="7694640"/>
            <a:chExt cx="10370160" cy="1482120"/>
          </a:xfrm>
        </p:grpSpPr>
        <p:sp>
          <p:nvSpPr>
            <p:cNvPr id="233" name="Freeform 18"/>
            <p:cNvSpPr/>
            <p:nvPr/>
          </p:nvSpPr>
          <p:spPr>
            <a:xfrm>
              <a:off x="6947640" y="7694640"/>
              <a:ext cx="10370160" cy="1482120"/>
            </a:xfrm>
            <a:custGeom>
              <a:avLst/>
              <a:gdLst>
                <a:gd name="textAreaLeft" fmla="*/ 0 w 10370160"/>
                <a:gd name="textAreaRight" fmla="*/ 10370520 w 10370160"/>
                <a:gd name="textAreaTop" fmla="*/ 0 h 1482120"/>
                <a:gd name="textAreaBottom" fmla="*/ 1482480 h 1482120"/>
              </a:gdLst>
              <a:ahLst/>
              <a:rect l="textAreaLeft" t="textAreaTop" r="textAreaRight" b="textAreaBottom"/>
              <a:pathLst>
                <a:path w="13827506" h="1976755">
                  <a:moveTo>
                    <a:pt x="0" y="153924"/>
                  </a:moveTo>
                  <a:cubicBezTo>
                    <a:pt x="0" y="68961"/>
                    <a:pt x="68961" y="0"/>
                    <a:pt x="153924" y="0"/>
                  </a:cubicBezTo>
                  <a:lnTo>
                    <a:pt x="13673582" y="0"/>
                  </a:lnTo>
                  <a:cubicBezTo>
                    <a:pt x="13758546" y="0"/>
                    <a:pt x="13827506" y="68961"/>
                    <a:pt x="13827506" y="153924"/>
                  </a:cubicBezTo>
                  <a:lnTo>
                    <a:pt x="13827506" y="1822831"/>
                  </a:lnTo>
                  <a:cubicBezTo>
                    <a:pt x="13827506" y="1907794"/>
                    <a:pt x="13758546" y="1976755"/>
                    <a:pt x="13673582" y="1976755"/>
                  </a:cubicBezTo>
                  <a:lnTo>
                    <a:pt x="153924" y="1976755"/>
                  </a:lnTo>
                  <a:cubicBezTo>
                    <a:pt x="68961" y="1976755"/>
                    <a:pt x="0" y="1907921"/>
                    <a:pt x="0" y="1822831"/>
                  </a:cubicBez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Group 19"/>
          <p:cNvGrpSpPr/>
          <p:nvPr/>
        </p:nvGrpSpPr>
        <p:grpSpPr>
          <a:xfrm>
            <a:off x="7222320" y="8093880"/>
            <a:ext cx="343080" cy="274320"/>
            <a:chOff x="7222320" y="8093880"/>
            <a:chExt cx="343080" cy="274320"/>
          </a:xfrm>
        </p:grpSpPr>
        <p:sp>
          <p:nvSpPr>
            <p:cNvPr id="235" name="Freeform 20"/>
            <p:cNvSpPr/>
            <p:nvPr/>
          </p:nvSpPr>
          <p:spPr>
            <a:xfrm>
              <a:off x="7222320" y="8093880"/>
              <a:ext cx="343080" cy="274320"/>
            </a:xfrm>
            <a:custGeom>
              <a:avLst/>
              <a:gdLst>
                <a:gd name="textAreaLeft" fmla="*/ 0 w 343080"/>
                <a:gd name="textAreaRight" fmla="*/ 343440 w 343080"/>
                <a:gd name="textAreaTop" fmla="*/ 0 h 274320"/>
                <a:gd name="textAreaBottom" fmla="*/ 274680 h 274320"/>
              </a:gdLst>
              <a:ahLst/>
              <a:rect l="textAreaLeft" t="textAreaTop" r="textAreaRight" b="textAreaBottom"/>
              <a:pathLst>
                <a:path w="457962" h="366395">
                  <a:moveTo>
                    <a:pt x="0" y="0"/>
                  </a:moveTo>
                  <a:lnTo>
                    <a:pt x="457962" y="0"/>
                  </a:lnTo>
                  <a:lnTo>
                    <a:pt x="457962" y="366395"/>
                  </a:lnTo>
                  <a:lnTo>
                    <a:pt x="0" y="366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6" name="TextBox 21"/>
          <p:cNvSpPr/>
          <p:nvPr/>
        </p:nvSpPr>
        <p:spPr>
          <a:xfrm>
            <a:off x="7840800" y="7917120"/>
            <a:ext cx="920232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2"/>
              </a:lnSpc>
            </a:pPr>
            <a:r>
              <a:rPr b="1" lang="en-US" sz="2100" spc="-1" strike="noStrike">
                <a:solidFill>
                  <a:srgbClr val="000000"/>
                </a:solidFill>
                <a:latin typeface="Roboto Bold"/>
                <a:ea typeface="Roboto Bold"/>
              </a:rPr>
              <a:t>Key insight:</a:t>
            </a:r>
            <a:r>
              <a:rPr b="0" lang="en-US" sz="2100" spc="-1" strike="noStrike">
                <a:solidFill>
                  <a:srgbClr val="000000"/>
                </a:solidFill>
                <a:latin typeface="Roboto"/>
                <a:ea typeface="Roboto"/>
              </a:rPr>
              <a:t> Solving the immediate problem is good. Preventing it from happening again is better.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38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40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TextBox 6"/>
          <p:cNvSpPr/>
          <p:nvPr/>
        </p:nvSpPr>
        <p:spPr>
          <a:xfrm>
            <a:off x="992880" y="1967040"/>
            <a:ext cx="1631556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31"/>
              </a:lnSpc>
            </a:pPr>
            <a:r>
              <a:rPr b="0" lang="en-US" sz="5560" spc="-1" strike="noStrike">
                <a:solidFill>
                  <a:srgbClr val="1b1b27"/>
                </a:solidFill>
                <a:latin typeface="Raleway"/>
                <a:ea typeface="Raleway"/>
              </a:rPr>
              <a:t>What I Bring</a:t>
            </a:r>
            <a:endParaRPr b="0" lang="en-US" sz="5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Freeform 7"/>
          <p:cNvSpPr/>
          <p:nvPr/>
        </p:nvSpPr>
        <p:spPr>
          <a:xfrm>
            <a:off x="992880" y="3459240"/>
            <a:ext cx="708840" cy="708840"/>
          </a:xfrm>
          <a:custGeom>
            <a:avLst/>
            <a:gdLst>
              <a:gd name="textAreaLeft" fmla="*/ 0 w 708840"/>
              <a:gd name="textAreaRight" fmla="*/ 709200 w 708840"/>
              <a:gd name="textAreaTop" fmla="*/ 0 h 708840"/>
              <a:gd name="textAreaBottom" fmla="*/ 709200 h 708840"/>
            </a:gdLst>
            <a:ahLst/>
            <a:rect l="textAreaLeft" t="textAreaTop" r="textAreaRight" b="textAreaBottom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992880" y="4504320"/>
            <a:ext cx="79801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Technical Depth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992880" y="5051160"/>
            <a:ext cx="79801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Infrastructure, deployment, and operations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Freeform 10"/>
          <p:cNvSpPr/>
          <p:nvPr/>
        </p:nvSpPr>
        <p:spPr>
          <a:xfrm>
            <a:off x="9328320" y="3459240"/>
            <a:ext cx="708840" cy="708840"/>
          </a:xfrm>
          <a:custGeom>
            <a:avLst/>
            <a:gdLst>
              <a:gd name="textAreaLeft" fmla="*/ 0 w 708840"/>
              <a:gd name="textAreaRight" fmla="*/ 709200 w 708840"/>
              <a:gd name="textAreaTop" fmla="*/ 0 h 708840"/>
              <a:gd name="textAreaBottom" fmla="*/ 709200 h 708840"/>
            </a:gdLst>
            <a:ahLst/>
            <a:rect l="textAreaLeft" t="textAreaTop" r="textAreaRight" b="textAreaBottom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69"/>
                </a:lnTo>
                <a:lnTo>
                  <a:pt x="0" y="70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9328320" y="4504320"/>
            <a:ext cx="7980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Automation Mindset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9328320" y="5051160"/>
            <a:ext cx="79804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Always looking for ways to improve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Freeform 13"/>
          <p:cNvSpPr/>
          <p:nvPr/>
        </p:nvSpPr>
        <p:spPr>
          <a:xfrm>
            <a:off x="992880" y="6158160"/>
            <a:ext cx="708840" cy="708840"/>
          </a:xfrm>
          <a:custGeom>
            <a:avLst/>
            <a:gdLst>
              <a:gd name="textAreaLeft" fmla="*/ 0 w 708840"/>
              <a:gd name="textAreaRight" fmla="*/ 709200 w 708840"/>
              <a:gd name="textAreaTop" fmla="*/ 0 h 708840"/>
              <a:gd name="textAreaBottom" fmla="*/ 709200 h 708840"/>
            </a:gdLst>
            <a:ahLst/>
            <a:rect l="textAreaLeft" t="textAreaTop" r="textAreaRight" b="textAreaBottom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992880" y="7203240"/>
            <a:ext cx="79801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Systems Thinking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5"/>
          <p:cNvSpPr/>
          <p:nvPr/>
        </p:nvSpPr>
        <p:spPr>
          <a:xfrm>
            <a:off x="992880" y="7750080"/>
            <a:ext cx="79801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Understanding how all pieces fit together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Freeform 16"/>
          <p:cNvSpPr/>
          <p:nvPr/>
        </p:nvSpPr>
        <p:spPr>
          <a:xfrm>
            <a:off x="9328320" y="6158160"/>
            <a:ext cx="708840" cy="708840"/>
          </a:xfrm>
          <a:custGeom>
            <a:avLst/>
            <a:gdLst>
              <a:gd name="textAreaLeft" fmla="*/ 0 w 708840"/>
              <a:gd name="textAreaRight" fmla="*/ 709200 w 708840"/>
              <a:gd name="textAreaTop" fmla="*/ 0 h 708840"/>
              <a:gd name="textAreaBottom" fmla="*/ 709200 h 708840"/>
            </a:gdLst>
            <a:ahLst/>
            <a:rect l="textAreaLeft" t="textAreaTop" r="textAreaRight" b="textAreaBottom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7"/>
          <p:cNvSpPr/>
          <p:nvPr/>
        </p:nvSpPr>
        <p:spPr>
          <a:xfrm>
            <a:off x="9328320" y="7203240"/>
            <a:ext cx="7980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64"/>
              </a:lnSpc>
            </a:pPr>
            <a:r>
              <a:rPr b="0" lang="en-US" sz="2780" spc="-1" strike="noStrike">
                <a:solidFill>
                  <a:srgbClr val="3c3939"/>
                </a:solidFill>
                <a:latin typeface="Raleway"/>
                <a:ea typeface="Raleway"/>
              </a:rPr>
              <a:t>Continuous Learner</a:t>
            </a:r>
            <a:endParaRPr b="0" lang="en-US" sz="2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8"/>
          <p:cNvSpPr/>
          <p:nvPr/>
        </p:nvSpPr>
        <p:spPr>
          <a:xfrm>
            <a:off x="9328320" y="7750080"/>
            <a:ext cx="798048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0" lang="en-US" sz="2170" spc="-1" strike="noStrike">
                <a:solidFill>
                  <a:srgbClr val="3c3939"/>
                </a:solidFill>
                <a:latin typeface="Roboto"/>
                <a:ea typeface="Roboto"/>
              </a:rPr>
              <a:t>Adapting to new technologies and challenges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55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57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8" name="Group 6"/>
          <p:cNvGrpSpPr/>
          <p:nvPr/>
        </p:nvGrpSpPr>
        <p:grpSpPr>
          <a:xfrm>
            <a:off x="0" y="0"/>
            <a:ext cx="6862680" cy="10294560"/>
            <a:chOff x="0" y="0"/>
            <a:chExt cx="6862680" cy="10294560"/>
          </a:xfrm>
        </p:grpSpPr>
        <p:sp>
          <p:nvSpPr>
            <p:cNvPr id="259" name="Freeform 7"/>
            <p:cNvSpPr/>
            <p:nvPr/>
          </p:nvSpPr>
          <p:spPr>
            <a:xfrm>
              <a:off x="0" y="0"/>
              <a:ext cx="6862680" cy="10294560"/>
            </a:xfrm>
            <a:custGeom>
              <a:avLst/>
              <a:gdLst>
                <a:gd name="textAreaLeft" fmla="*/ 0 w 6862680"/>
                <a:gd name="textAreaRight" fmla="*/ 6863040 w 686268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1e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" name="Group 8"/>
          <p:cNvGrpSpPr/>
          <p:nvPr/>
        </p:nvGrpSpPr>
        <p:grpSpPr>
          <a:xfrm>
            <a:off x="137160" y="754920"/>
            <a:ext cx="6588000" cy="8784720"/>
            <a:chOff x="137160" y="754920"/>
            <a:chExt cx="6588000" cy="8784720"/>
          </a:xfrm>
        </p:grpSpPr>
        <p:sp>
          <p:nvSpPr>
            <p:cNvPr id="261" name="Freeform 9"/>
            <p:cNvSpPr/>
            <p:nvPr/>
          </p:nvSpPr>
          <p:spPr>
            <a:xfrm>
              <a:off x="137160" y="754920"/>
              <a:ext cx="6588000" cy="8784720"/>
            </a:xfrm>
            <a:custGeom>
              <a:avLst/>
              <a:gdLst>
                <a:gd name="textAreaLeft" fmla="*/ 0 w 6588000"/>
                <a:gd name="textAreaRight" fmla="*/ 6588360 w 6588000"/>
                <a:gd name="textAreaTop" fmla="*/ 0 h 8784720"/>
                <a:gd name="textAreaBottom" fmla="*/ 8785080 h 8784720"/>
              </a:gdLst>
              <a:ahLst/>
              <a:rect l="textAreaLeft" t="textAreaTop" r="textAreaRight" b="textAreaBottom"/>
              <a:pathLst>
                <a:path w="8784590" h="11713210">
                  <a:moveTo>
                    <a:pt x="0" y="0"/>
                  </a:moveTo>
                  <a:lnTo>
                    <a:pt x="8784590" y="0"/>
                  </a:lnTo>
                  <a:lnTo>
                    <a:pt x="8784590" y="11713210"/>
                  </a:lnTo>
                  <a:lnTo>
                    <a:pt x="0" y="1171321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2" name="TextBox 10"/>
          <p:cNvSpPr/>
          <p:nvPr/>
        </p:nvSpPr>
        <p:spPr>
          <a:xfrm>
            <a:off x="7856280" y="987840"/>
            <a:ext cx="94521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44"/>
              </a:lnSpc>
            </a:pPr>
            <a:r>
              <a:rPr b="0" lang="en-US" sz="5410" spc="-1" strike="noStrike">
                <a:solidFill>
                  <a:srgbClr val="1b1b27"/>
                </a:solidFill>
                <a:latin typeface="Raleway"/>
                <a:ea typeface="Raleway"/>
              </a:rPr>
              <a:t>Why Marloa?</a:t>
            </a:r>
            <a:endParaRPr b="0" lang="en-US" sz="5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Freeform 11"/>
          <p:cNvSpPr/>
          <p:nvPr/>
        </p:nvSpPr>
        <p:spPr>
          <a:xfrm>
            <a:off x="7818120" y="2246400"/>
            <a:ext cx="9490320" cy="1098000"/>
          </a:xfrm>
          <a:custGeom>
            <a:avLst/>
            <a:gdLst>
              <a:gd name="textAreaLeft" fmla="*/ 0 w 9490320"/>
              <a:gd name="textAreaRight" fmla="*/ 9490680 w 9490320"/>
              <a:gd name="textAreaTop" fmla="*/ 0 h 1098000"/>
              <a:gd name="textAreaBottom" fmla="*/ 1098360 h 1098000"/>
            </a:gdLst>
            <a:ahLst/>
            <a:rect l="textAreaLeft" t="textAreaTop" r="textAreaRight" b="textAreaBottom"/>
            <a:pathLst>
              <a:path w="9490805" h="1098318">
                <a:moveTo>
                  <a:pt x="0" y="0"/>
                </a:moveTo>
                <a:lnTo>
                  <a:pt x="9490806" y="0"/>
                </a:lnTo>
                <a:lnTo>
                  <a:pt x="9490806" y="1098318"/>
                </a:lnTo>
                <a:lnTo>
                  <a:pt x="0" y="10983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12"/>
          <p:cNvSpPr/>
          <p:nvPr/>
        </p:nvSpPr>
        <p:spPr>
          <a:xfrm>
            <a:off x="8207280" y="2265480"/>
            <a:ext cx="9101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b="0" lang="en-US" sz="2700" spc="-1" strike="noStrike">
                <a:solidFill>
                  <a:srgbClr val="3c3939"/>
                </a:solidFill>
                <a:latin typeface="Raleway"/>
                <a:ea typeface="Raleway"/>
              </a:rPr>
              <a:t>AI Voice Workflows for Customer Automation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3"/>
          <p:cNvSpPr/>
          <p:nvPr/>
        </p:nvSpPr>
        <p:spPr>
          <a:xfrm>
            <a:off x="8207280" y="2787840"/>
            <a:ext cx="910116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2"/>
              </a:lnSpc>
            </a:pPr>
            <a:r>
              <a:rPr b="0" lang="en-US" sz="2100" spc="-1" strike="noStrike">
                <a:solidFill>
                  <a:srgbClr val="3c3939"/>
                </a:solidFill>
                <a:latin typeface="Roboto"/>
                <a:ea typeface="Roboto"/>
              </a:rPr>
              <a:t>Build on a mission that puts voice automation at the center of the product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Freeform 14"/>
          <p:cNvSpPr/>
          <p:nvPr/>
        </p:nvSpPr>
        <p:spPr>
          <a:xfrm>
            <a:off x="7818120" y="3800880"/>
            <a:ext cx="9490320" cy="1531080"/>
          </a:xfrm>
          <a:custGeom>
            <a:avLst/>
            <a:gdLst>
              <a:gd name="textAreaLeft" fmla="*/ 0 w 9490320"/>
              <a:gd name="textAreaRight" fmla="*/ 9490680 w 9490320"/>
              <a:gd name="textAreaTop" fmla="*/ 0 h 1531080"/>
              <a:gd name="textAreaBottom" fmla="*/ 1531440 h 1531080"/>
            </a:gdLst>
            <a:ahLst/>
            <a:rect l="textAreaLeft" t="textAreaTop" r="textAreaRight" b="textAreaBottom"/>
            <a:pathLst>
              <a:path w="9490805" h="1531296">
                <a:moveTo>
                  <a:pt x="0" y="0"/>
                </a:moveTo>
                <a:lnTo>
                  <a:pt x="9490806" y="0"/>
                </a:lnTo>
                <a:lnTo>
                  <a:pt x="9490806" y="1531296"/>
                </a:lnTo>
                <a:lnTo>
                  <a:pt x="0" y="15312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8207280" y="3819960"/>
            <a:ext cx="9101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b="0" lang="en-US" sz="2700" spc="-1" strike="noStrike">
                <a:solidFill>
                  <a:srgbClr val="3c3939"/>
                </a:solidFill>
                <a:latin typeface="Raleway"/>
                <a:ea typeface="Raleway"/>
              </a:rPr>
              <a:t>AI Systems That Handle Real Business Work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8207280" y="4342320"/>
            <a:ext cx="91011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2"/>
              </a:lnSpc>
            </a:pPr>
            <a:r>
              <a:rPr b="0" lang="en-US" sz="2100" spc="-1" strike="noStrike">
                <a:solidFill>
                  <a:srgbClr val="3c3939"/>
                </a:solidFill>
                <a:latin typeface="Roboto"/>
                <a:ea typeface="Roboto"/>
              </a:rPr>
              <a:t>Work at the intersection of bookings, qualification, follow-up, and escalation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Freeform 17"/>
          <p:cNvSpPr/>
          <p:nvPr/>
        </p:nvSpPr>
        <p:spPr>
          <a:xfrm>
            <a:off x="7818120" y="5788440"/>
            <a:ext cx="9490320" cy="1531080"/>
          </a:xfrm>
          <a:custGeom>
            <a:avLst/>
            <a:gdLst>
              <a:gd name="textAreaLeft" fmla="*/ 0 w 9490320"/>
              <a:gd name="textAreaRight" fmla="*/ 9490680 w 9490320"/>
              <a:gd name="textAreaTop" fmla="*/ 0 h 1531080"/>
              <a:gd name="textAreaBottom" fmla="*/ 1531440 h 1531080"/>
            </a:gdLst>
            <a:ahLst/>
            <a:rect l="textAreaLeft" t="textAreaTop" r="textAreaRight" b="textAreaBottom"/>
            <a:pathLst>
              <a:path w="9490805" h="1531296">
                <a:moveTo>
                  <a:pt x="0" y="0"/>
                </a:moveTo>
                <a:lnTo>
                  <a:pt x="9490806" y="0"/>
                </a:lnTo>
                <a:lnTo>
                  <a:pt x="9490806" y="1531297"/>
                </a:lnTo>
                <a:lnTo>
                  <a:pt x="0" y="15312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8"/>
          <p:cNvSpPr/>
          <p:nvPr/>
        </p:nvSpPr>
        <p:spPr>
          <a:xfrm>
            <a:off x="8207280" y="5807520"/>
            <a:ext cx="9101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b="0" lang="en-US" sz="2700" spc="-1" strike="noStrike">
                <a:solidFill>
                  <a:srgbClr val="3c3939"/>
                </a:solidFill>
                <a:latin typeface="Raleway"/>
                <a:ea typeface="Raleway"/>
              </a:rPr>
              <a:t>Infrastructure for 24/7 Reliability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9"/>
          <p:cNvSpPr/>
          <p:nvPr/>
        </p:nvSpPr>
        <p:spPr>
          <a:xfrm>
            <a:off x="8207280" y="6329880"/>
            <a:ext cx="91011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2"/>
              </a:lnSpc>
            </a:pPr>
            <a:r>
              <a:rPr b="0" lang="en-US" sz="2100" spc="-1" strike="noStrike">
                <a:solidFill>
                  <a:srgbClr val="3c3939"/>
                </a:solidFill>
                <a:latin typeface="Roboto"/>
                <a:ea typeface="Roboto"/>
              </a:rPr>
              <a:t>Help build DevOps and reliability for always-on managed AI voice systems people can trust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Freeform 20"/>
          <p:cNvSpPr/>
          <p:nvPr/>
        </p:nvSpPr>
        <p:spPr>
          <a:xfrm>
            <a:off x="7818120" y="7775640"/>
            <a:ext cx="9490320" cy="1531080"/>
          </a:xfrm>
          <a:custGeom>
            <a:avLst/>
            <a:gdLst>
              <a:gd name="textAreaLeft" fmla="*/ 0 w 9490320"/>
              <a:gd name="textAreaRight" fmla="*/ 9490680 w 9490320"/>
              <a:gd name="textAreaTop" fmla="*/ 0 h 1531080"/>
              <a:gd name="textAreaBottom" fmla="*/ 1531440 h 1531080"/>
            </a:gdLst>
            <a:ahLst/>
            <a:rect l="textAreaLeft" t="textAreaTop" r="textAreaRight" b="textAreaBottom"/>
            <a:pathLst>
              <a:path w="9490805" h="1531296">
                <a:moveTo>
                  <a:pt x="0" y="0"/>
                </a:moveTo>
                <a:lnTo>
                  <a:pt x="9490806" y="0"/>
                </a:lnTo>
                <a:lnTo>
                  <a:pt x="9490806" y="1531297"/>
                </a:lnTo>
                <a:lnTo>
                  <a:pt x="0" y="15312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21"/>
          <p:cNvSpPr/>
          <p:nvPr/>
        </p:nvSpPr>
        <p:spPr>
          <a:xfrm>
            <a:off x="8207280" y="7794720"/>
            <a:ext cx="9101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73"/>
              </a:lnSpc>
            </a:pPr>
            <a:r>
              <a:rPr b="0" lang="en-US" sz="2700" spc="-1" strike="noStrike">
                <a:solidFill>
                  <a:srgbClr val="3c3939"/>
                </a:solidFill>
                <a:latin typeface="Raleway"/>
                <a:ea typeface="Raleway"/>
              </a:rPr>
              <a:t>Shape a New Product Category Early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22"/>
          <p:cNvSpPr/>
          <p:nvPr/>
        </p:nvSpPr>
        <p:spPr>
          <a:xfrm>
            <a:off x="8207280" y="8317440"/>
            <a:ext cx="91011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2"/>
              </a:lnSpc>
            </a:pPr>
            <a:r>
              <a:rPr b="0" lang="en-US" sz="2100" spc="-1" strike="noStrike">
                <a:solidFill>
                  <a:srgbClr val="3c3939"/>
                </a:solidFill>
                <a:latin typeface="Roboto"/>
                <a:ea typeface="Roboto"/>
              </a:rPr>
              <a:t>Influence the infrastructure and reliability foundation for a new AI voice automation platform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roup 2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76" name="Freeform 3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" name="Group 4"/>
          <p:cNvGrpSpPr/>
          <p:nvPr/>
        </p:nvGrpSpPr>
        <p:grpSpPr>
          <a:xfrm>
            <a:off x="0" y="0"/>
            <a:ext cx="18301320" cy="10294560"/>
            <a:chOff x="0" y="0"/>
            <a:chExt cx="18301320" cy="10294560"/>
          </a:xfrm>
        </p:grpSpPr>
        <p:sp>
          <p:nvSpPr>
            <p:cNvPr id="278" name="Freeform 5"/>
            <p:cNvSpPr/>
            <p:nvPr/>
          </p:nvSpPr>
          <p:spPr>
            <a:xfrm>
              <a:off x="0" y="0"/>
              <a:ext cx="18301320" cy="10294560"/>
            </a:xfrm>
            <a:custGeom>
              <a:avLst/>
              <a:gdLst>
                <a:gd name="textAreaLeft" fmla="*/ 0 w 18301320"/>
                <a:gd name="textAreaRight" fmla="*/ 18301680 w 18301320"/>
                <a:gd name="textAreaTop" fmla="*/ 0 h 10294560"/>
                <a:gd name="textAreaBottom" fmla="*/ 10294920 h 10294560"/>
              </a:gdLst>
              <a:ahLst/>
              <a:rect l="textAreaLeft" t="textAreaTop" r="textAreaRight" b="textAreaBottom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9" name="TextBox 6"/>
          <p:cNvSpPr/>
          <p:nvPr/>
        </p:nvSpPr>
        <p:spPr>
          <a:xfrm>
            <a:off x="992880" y="821160"/>
            <a:ext cx="16315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82"/>
              </a:lnSpc>
            </a:pPr>
            <a:r>
              <a:rPr b="0" lang="en-US" sz="4950" spc="-1" strike="noStrike">
                <a:solidFill>
                  <a:srgbClr val="1b1b27"/>
                </a:solidFill>
                <a:latin typeface="Raleway"/>
                <a:ea typeface="Raleway"/>
              </a:rPr>
              <a:t>Thank You!</a:t>
            </a:r>
            <a:endParaRPr b="0" lang="en-US" sz="4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535320" y="2022840"/>
            <a:ext cx="172306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51"/>
              </a:lnSpc>
            </a:pPr>
            <a:r>
              <a:rPr b="0" lang="en-US" sz="1950" spc="-1" strike="noStrike">
                <a:solidFill>
                  <a:srgbClr val="3c3939"/>
                </a:solidFill>
                <a:latin typeface="Roboto"/>
                <a:ea typeface="Roboto"/>
              </a:rPr>
              <a:t>DevOps is about more than just tools – it's a culture of innovation for efficient and reliable software delivery.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Freeform 8"/>
          <p:cNvSpPr/>
          <p:nvPr/>
        </p:nvSpPr>
        <p:spPr>
          <a:xfrm>
            <a:off x="992880" y="2724840"/>
            <a:ext cx="631440" cy="631440"/>
          </a:xfrm>
          <a:custGeom>
            <a:avLst/>
            <a:gdLst>
              <a:gd name="textAreaLeft" fmla="*/ 0 w 631440"/>
              <a:gd name="textAreaRight" fmla="*/ 631800 w 631440"/>
              <a:gd name="textAreaTop" fmla="*/ 0 h 631440"/>
              <a:gd name="textAreaBottom" fmla="*/ 631800 h 631440"/>
            </a:gdLst>
            <a:ahLst/>
            <a:rect l="textAreaLeft" t="textAreaTop" r="textAreaRight" b="textAreaBottom"/>
            <a:pathLst>
              <a:path w="631660" h="631669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9"/>
          <p:cNvSpPr/>
          <p:nvPr/>
        </p:nvSpPr>
        <p:spPr>
          <a:xfrm>
            <a:off x="992880" y="3618720"/>
            <a:ext cx="8016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90"/>
              </a:lnSpc>
            </a:pPr>
            <a:r>
              <a:rPr b="0" lang="en-US" sz="2470" spc="-1" strike="noStrike">
                <a:solidFill>
                  <a:srgbClr val="3c3939"/>
                </a:solidFill>
                <a:latin typeface="Raleway"/>
                <a:ea typeface="Raleway"/>
              </a:rPr>
              <a:t>Automation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992880" y="4100760"/>
            <a:ext cx="80168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1"/>
              </a:lnSpc>
            </a:pPr>
            <a:r>
              <a:rPr b="0" lang="en-US" sz="1950" spc="-1" strike="noStrike">
                <a:solidFill>
                  <a:srgbClr val="3c3939"/>
                </a:solidFill>
                <a:latin typeface="Roboto"/>
                <a:ea typeface="Roboto"/>
              </a:rPr>
              <a:t>Streamline repetitive tasks and workflows for speed and consistency.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Freeform 11"/>
          <p:cNvSpPr/>
          <p:nvPr/>
        </p:nvSpPr>
        <p:spPr>
          <a:xfrm>
            <a:off x="9291600" y="2724840"/>
            <a:ext cx="631440" cy="631440"/>
          </a:xfrm>
          <a:custGeom>
            <a:avLst/>
            <a:gdLst>
              <a:gd name="textAreaLeft" fmla="*/ 0 w 631440"/>
              <a:gd name="textAreaRight" fmla="*/ 631800 w 631440"/>
              <a:gd name="textAreaTop" fmla="*/ 0 h 631440"/>
              <a:gd name="textAreaBottom" fmla="*/ 631800 h 631440"/>
            </a:gdLst>
            <a:ahLst/>
            <a:rect l="textAreaLeft" t="textAreaTop" r="textAreaRight" b="textAreaBottom"/>
            <a:pathLst>
              <a:path w="631660" h="631669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12"/>
          <p:cNvSpPr/>
          <p:nvPr/>
        </p:nvSpPr>
        <p:spPr>
          <a:xfrm>
            <a:off x="9291600" y="3618720"/>
            <a:ext cx="8016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90"/>
              </a:lnSpc>
            </a:pPr>
            <a:r>
              <a:rPr b="0" lang="en-US" sz="2470" spc="-1" strike="noStrike">
                <a:solidFill>
                  <a:srgbClr val="3c3939"/>
                </a:solidFill>
                <a:latin typeface="Raleway"/>
                <a:ea typeface="Raleway"/>
              </a:rPr>
              <a:t>Reliability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3"/>
          <p:cNvSpPr/>
          <p:nvPr/>
        </p:nvSpPr>
        <p:spPr>
          <a:xfrm>
            <a:off x="9291600" y="4100760"/>
            <a:ext cx="80168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1"/>
              </a:lnSpc>
            </a:pPr>
            <a:r>
              <a:rPr b="0" lang="en-US" sz="1950" spc="-1" strike="noStrike">
                <a:solidFill>
                  <a:srgbClr val="3c3939"/>
                </a:solidFill>
                <a:latin typeface="Roboto"/>
                <a:ea typeface="Roboto"/>
              </a:rPr>
              <a:t>Build resilient, observable systems that recover quickly from failure.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Freeform 14"/>
          <p:cNvSpPr/>
          <p:nvPr/>
        </p:nvSpPr>
        <p:spPr>
          <a:xfrm>
            <a:off x="992880" y="4999680"/>
            <a:ext cx="631440" cy="631440"/>
          </a:xfrm>
          <a:custGeom>
            <a:avLst/>
            <a:gdLst>
              <a:gd name="textAreaLeft" fmla="*/ 0 w 631440"/>
              <a:gd name="textAreaRight" fmla="*/ 631800 w 631440"/>
              <a:gd name="textAreaTop" fmla="*/ 0 h 631440"/>
              <a:gd name="textAreaBottom" fmla="*/ 631800 h 631440"/>
            </a:gdLst>
            <a:ahLst/>
            <a:rect l="textAreaLeft" t="textAreaTop" r="textAreaRight" b="textAreaBottom"/>
            <a:pathLst>
              <a:path w="631660" h="631669">
                <a:moveTo>
                  <a:pt x="0" y="0"/>
                </a:moveTo>
                <a:lnTo>
                  <a:pt x="631660" y="0"/>
                </a:lnTo>
                <a:lnTo>
                  <a:pt x="631660" y="631669"/>
                </a:lnTo>
                <a:lnTo>
                  <a:pt x="0" y="6316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992880" y="5893560"/>
            <a:ext cx="8016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90"/>
              </a:lnSpc>
            </a:pPr>
            <a:r>
              <a:rPr b="0" lang="en-US" sz="2470" spc="-1" strike="noStrike">
                <a:solidFill>
                  <a:srgbClr val="3c3939"/>
                </a:solidFill>
                <a:latin typeface="Raleway"/>
                <a:ea typeface="Raleway"/>
              </a:rPr>
              <a:t>Collaboration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16"/>
          <p:cNvSpPr/>
          <p:nvPr/>
        </p:nvSpPr>
        <p:spPr>
          <a:xfrm>
            <a:off x="992880" y="6375600"/>
            <a:ext cx="801684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1"/>
              </a:lnSpc>
            </a:pPr>
            <a:r>
              <a:rPr b="0" lang="en-US" sz="1950" spc="-1" strike="noStrike">
                <a:solidFill>
                  <a:srgbClr val="3c3939"/>
                </a:solidFill>
                <a:latin typeface="Roboto"/>
                <a:ea typeface="Roboto"/>
              </a:rPr>
              <a:t>Foster a shared ownership mindset between development and operations teams.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Freeform 17"/>
          <p:cNvSpPr/>
          <p:nvPr/>
        </p:nvSpPr>
        <p:spPr>
          <a:xfrm>
            <a:off x="9291600" y="4999680"/>
            <a:ext cx="631440" cy="631440"/>
          </a:xfrm>
          <a:custGeom>
            <a:avLst/>
            <a:gdLst>
              <a:gd name="textAreaLeft" fmla="*/ 0 w 631440"/>
              <a:gd name="textAreaRight" fmla="*/ 631800 w 631440"/>
              <a:gd name="textAreaTop" fmla="*/ 0 h 631440"/>
              <a:gd name="textAreaBottom" fmla="*/ 631800 h 631440"/>
            </a:gdLst>
            <a:ahLst/>
            <a:rect l="textAreaLeft" t="textAreaTop" r="textAreaRight" b="textAreaBottom"/>
            <a:pathLst>
              <a:path w="631660" h="631669">
                <a:moveTo>
                  <a:pt x="0" y="0"/>
                </a:moveTo>
                <a:lnTo>
                  <a:pt x="631660" y="0"/>
                </a:lnTo>
                <a:lnTo>
                  <a:pt x="631660" y="631669"/>
                </a:lnTo>
                <a:lnTo>
                  <a:pt x="0" y="6316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8"/>
          <p:cNvSpPr/>
          <p:nvPr/>
        </p:nvSpPr>
        <p:spPr>
          <a:xfrm>
            <a:off x="9291600" y="5893560"/>
            <a:ext cx="8016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90"/>
              </a:lnSpc>
            </a:pPr>
            <a:r>
              <a:rPr b="0" lang="en-US" sz="2470" spc="-1" strike="noStrike">
                <a:solidFill>
                  <a:srgbClr val="3c3939"/>
                </a:solidFill>
                <a:latin typeface="Raleway"/>
                <a:ea typeface="Raleway"/>
              </a:rPr>
              <a:t>Improvement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9"/>
          <p:cNvSpPr/>
          <p:nvPr/>
        </p:nvSpPr>
        <p:spPr>
          <a:xfrm>
            <a:off x="9291600" y="6375600"/>
            <a:ext cx="801684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51"/>
              </a:lnSpc>
            </a:pPr>
            <a:r>
              <a:rPr b="0" lang="en-US" sz="1950" spc="-1" strike="noStrike">
                <a:solidFill>
                  <a:srgbClr val="3c3939"/>
                </a:solidFill>
                <a:latin typeface="Roboto"/>
                <a:ea typeface="Roboto"/>
              </a:rPr>
              <a:t>Continuously learn, iterate, and adapt to evolving challenges and technologies.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20"/>
          <p:cNvSpPr/>
          <p:nvPr/>
        </p:nvSpPr>
        <p:spPr>
          <a:xfrm>
            <a:off x="992880" y="7515720"/>
            <a:ext cx="163155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54"/>
              </a:lnSpc>
            </a:pPr>
            <a:r>
              <a:rPr b="0" lang="en-US" sz="2930" spc="-1" strike="noStrike">
                <a:solidFill>
                  <a:srgbClr val="1b1b27"/>
                </a:solidFill>
                <a:latin typeface="Raleway"/>
                <a:ea typeface="Raleway"/>
              </a:rPr>
              <a:t>I'm ready to dive into any technical area in more detail.</a:t>
            </a:r>
            <a:endParaRPr b="0" lang="en-US" sz="2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21"/>
          <p:cNvSpPr/>
          <p:nvPr/>
        </p:nvSpPr>
        <p:spPr>
          <a:xfrm>
            <a:off x="992880" y="8308080"/>
            <a:ext cx="1631556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8524"/>
              </a:lnSpc>
            </a:pPr>
            <a:r>
              <a:rPr b="0" lang="en-US" sz="6830" spc="-1" strike="noStrike">
                <a:solidFill>
                  <a:srgbClr val="1b1b27"/>
                </a:solidFill>
                <a:latin typeface="Raleway"/>
                <a:ea typeface="Raleway"/>
              </a:rPr>
              <a:t>Questions?</a:t>
            </a:r>
            <a:endParaRPr b="0" lang="en-US" sz="68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DAHU4uS_rQ8</dc:identifier>
  <dc:language>en-US</dc:language>
  <cp:lastModifiedBy/>
  <dcterms:modified xsi:type="dcterms:W3CDTF">2026-09-11T16:20:57Z</dcterms:modified>
  <cp:revision>2</cp:revision>
  <dc:subject/>
  <dc:title>Aslin-Dhurai-DevOps-Engineer.pptx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